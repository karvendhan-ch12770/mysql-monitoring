
<file path=[Content_Types].xml><?xml version="1.0" encoding="utf-8"?>
<Types xmlns="http://schemas.openxmlformats.org/package/2006/content-types">
  <Default Extension="2"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2" r:id="rId4"/>
  </p:sldMasterIdLst>
  <p:notesMasterIdLst>
    <p:notesMasterId r:id="rId17"/>
  </p:notesMasterIdLst>
  <p:handoutMasterIdLst>
    <p:handoutMasterId r:id="rId18"/>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rformance &amp; Project Delivery Presentation – Karvendhan Nagaraj" id="{6B9A042C-24DB-4C2A-ABC3-D24385AC69A7}">
          <p14:sldIdLst>
            <p14:sldId id="2561"/>
          </p14:sldIdLst>
        </p14:section>
        <p14:section name="Appraisal Highlights" id="{FCEA9086-2A4A-4049-871E-A0FC46F616B6}">
          <p14:sldIdLst>
            <p14:sldId id="2562"/>
            <p14:sldId id="2563"/>
            <p14:sldId id="2564"/>
            <p14:sldId id="2565"/>
            <p14:sldId id="2566"/>
            <p14:sldId id="2567"/>
          </p14:sldIdLst>
        </p14:section>
        <p14:section name="Personal Development and Future Goals" id="{4CDA0004-C6DA-4332-BF7D-8655C7845A6D}">
          <p14:sldIdLst>
            <p14:sldId id="2568"/>
            <p14:sldId id="2569"/>
            <p14:sldId id="2570"/>
            <p14:sldId id="2571"/>
            <p14:sldId id="257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C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5CB223-182A-48EF-38EF-7F67875538A1}" v="5" dt="2026-01-23T07:39:05.225"/>
    <p1510:client id="{E25B643F-AE8C-4295-B236-CC6294E06330}" v="16" dt="2026-01-23T07:35:44.4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02" y="210"/>
      </p:cViewPr>
      <p:guideLst>
        <p:guide orient="horz" pos="2160"/>
        <p:guide pos="3840"/>
      </p:guideLst>
    </p:cSldViewPr>
  </p:slideViewPr>
  <p:notesTextViewPr>
    <p:cViewPr>
      <p:scale>
        <a:sx n="1" d="1"/>
        <a:sy n="1" d="1"/>
      </p:scale>
      <p:origin x="0" y="0"/>
    </p:cViewPr>
  </p:notesTextViewPr>
  <p:sorterViewPr>
    <p:cViewPr>
      <p:scale>
        <a:sx n="100" d="100"/>
        <a:sy n="100" d="100"/>
      </p:scale>
      <p:origin x="0" y="-96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E25B643F-AE8C-4295-B236-CC6294E06330}"/>
    <pc:docChg chg="addSld delSld modSld addSection">
      <pc:chgData name="" userId="" providerId="" clId="Web-{E25B643F-AE8C-4295-B236-CC6294E06330}" dt="2026-01-23T07:35:44.459" v="16" actId="34807"/>
      <pc:docMkLst>
        <pc:docMk/>
      </pc:docMkLst>
      <pc:sldChg chg="del">
        <pc:chgData name="" userId="" providerId="" clId="Web-{E25B643F-AE8C-4295-B236-CC6294E06330}" dt="2026-01-23T07:35:44.365" v="0" actId="34807"/>
        <pc:sldMkLst>
          <pc:docMk/>
          <pc:sldMk cId="2329614230" sldId="260"/>
        </pc:sldMkLst>
      </pc:sldChg>
      <pc:sldChg chg="modSp add mod modClrScheme addAnim chgLayout">
        <pc:chgData name="" userId="" providerId="" clId="Web-{E25B643F-AE8C-4295-B236-CC6294E06330}" dt="2026-01-23T07:35:44.443" v="4" actId="34807"/>
        <pc:sldMkLst>
          <pc:docMk/>
          <pc:sldMk cId="1397820152" sldId="2561"/>
        </pc:sldMkLst>
        <pc:spChg chg="mod">
          <ac:chgData name="" userId="" providerId="" clId="Web-{E25B643F-AE8C-4295-B236-CC6294E06330}" dt="2026-01-23T07:35:44.443" v="1" actId="34807"/>
          <ac:spMkLst>
            <pc:docMk/>
            <pc:sldMk cId="1397820152" sldId="2561"/>
            <ac:spMk id="2" creationId="{D1E0B941-38CD-E463-4544-E78D425578EF}"/>
          </ac:spMkLst>
        </pc:spChg>
        <pc:spChg chg="mod">
          <ac:chgData name="" userId="" providerId="" clId="Web-{E25B643F-AE8C-4295-B236-CC6294E06330}" dt="2026-01-23T07:35:44.443" v="1" actId="34807"/>
          <ac:spMkLst>
            <pc:docMk/>
            <pc:sldMk cId="1397820152" sldId="2561"/>
            <ac:spMk id="3" creationId="{5E903B14-EC21-2653-BED4-0F4730D4B95E}"/>
          </ac:spMkLst>
        </pc:spChg>
        <pc:picChg chg="mod">
          <ac:chgData name="" userId="" providerId="" clId="Web-{E25B643F-AE8C-4295-B236-CC6294E06330}" dt="2026-01-23T07:35:44.443" v="1" actId="34807"/>
          <ac:picMkLst>
            <pc:docMk/>
            <pc:sldMk cId="1397820152" sldId="2561"/>
            <ac:picMk id="4" creationId="{5A47285A-6248-45C2-B6E8-0BEFB2C1675B}"/>
          </ac:picMkLst>
        </pc:picChg>
      </pc:sldChg>
      <pc:sldChg chg="modSp add mod modTransition addAnim chgLayout">
        <pc:chgData name="" userId="" providerId="" clId="Web-{E25B643F-AE8C-4295-B236-CC6294E06330}" dt="2026-01-23T07:35:44.443" v="5" actId="34807"/>
        <pc:sldMkLst>
          <pc:docMk/>
          <pc:sldMk cId="3109650293" sldId="2562"/>
        </pc:sldMkLst>
        <pc:spChg chg="mod">
          <ac:chgData name="" userId="" providerId="" clId="Web-{E25B643F-AE8C-4295-B236-CC6294E06330}" dt="2026-01-23T07:35:44.443" v="1" actId="34807"/>
          <ac:spMkLst>
            <pc:docMk/>
            <pc:sldMk cId="3109650293" sldId="2562"/>
            <ac:spMk id="2" creationId="{0D19F698-D5A6-3B87-6E49-EDD40A845C17}"/>
          </ac:spMkLst>
        </pc:spChg>
      </pc:sldChg>
      <pc:sldChg chg="modSp add mod modTransition modClrScheme addAnim chgLayout">
        <pc:chgData name="" userId="" providerId="" clId="Web-{E25B643F-AE8C-4295-B236-CC6294E06330}" dt="2026-01-23T07:35:44.443" v="6" actId="34807"/>
        <pc:sldMkLst>
          <pc:docMk/>
          <pc:sldMk cId="2303089350" sldId="2563"/>
        </pc:sldMkLst>
        <pc:spChg chg="mod">
          <ac:chgData name="" userId="" providerId="" clId="Web-{E25B643F-AE8C-4295-B236-CC6294E06330}" dt="2026-01-23T07:35:44.443" v="1" actId="34807"/>
          <ac:spMkLst>
            <pc:docMk/>
            <pc:sldMk cId="2303089350" sldId="2563"/>
            <ac:spMk id="2" creationId="{95CC85A0-C30A-677B-3359-A5C4D073ADB4}"/>
          </ac:spMkLst>
        </pc:spChg>
        <pc:spChg chg="mod">
          <ac:chgData name="" userId="" providerId="" clId="Web-{E25B643F-AE8C-4295-B236-CC6294E06330}" dt="2026-01-23T07:35:44.443" v="1" actId="34807"/>
          <ac:spMkLst>
            <pc:docMk/>
            <pc:sldMk cId="2303089350" sldId="2563"/>
            <ac:spMk id="4" creationId="{9791BF28-3DBE-6349-51CD-18BC8AB7DF9D}"/>
          </ac:spMkLst>
        </pc:spChg>
        <pc:picChg chg="mod">
          <ac:chgData name="" userId="" providerId="" clId="Web-{E25B643F-AE8C-4295-B236-CC6294E06330}" dt="2026-01-23T07:35:44.443" v="1" actId="34807"/>
          <ac:picMkLst>
            <pc:docMk/>
            <pc:sldMk cId="2303089350" sldId="2563"/>
            <ac:picMk id="5" creationId="{28B04E11-A74B-4B9D-9F4B-FA4E9A1C668D}"/>
          </ac:picMkLst>
        </pc:picChg>
      </pc:sldChg>
      <pc:sldChg chg="modSp add mod modTransition modClrScheme addAnim chgLayout">
        <pc:chgData name="" userId="" providerId="" clId="Web-{E25B643F-AE8C-4295-B236-CC6294E06330}" dt="2026-01-23T07:35:44.443" v="7" actId="34807"/>
        <pc:sldMkLst>
          <pc:docMk/>
          <pc:sldMk cId="2127061661" sldId="2564"/>
        </pc:sldMkLst>
        <pc:spChg chg="mod">
          <ac:chgData name="" userId="" providerId="" clId="Web-{E25B643F-AE8C-4295-B236-CC6294E06330}" dt="2026-01-23T07:35:44.443" v="1" actId="34807"/>
          <ac:spMkLst>
            <pc:docMk/>
            <pc:sldMk cId="2127061661" sldId="2564"/>
            <ac:spMk id="2" creationId="{3B77AD74-8019-5DCD-5B93-5DFF33442075}"/>
          </ac:spMkLst>
        </pc:spChg>
        <pc:spChg chg="mod">
          <ac:chgData name="" userId="" providerId="" clId="Web-{E25B643F-AE8C-4295-B236-CC6294E06330}" dt="2026-01-23T07:35:44.443" v="1" actId="34807"/>
          <ac:spMkLst>
            <pc:docMk/>
            <pc:sldMk cId="2127061661" sldId="2564"/>
            <ac:spMk id="4" creationId="{57568F4B-10C5-7E51-279D-FBCAA1611FCE}"/>
          </ac:spMkLst>
        </pc:spChg>
        <pc:picChg chg="mod">
          <ac:chgData name="" userId="" providerId="" clId="Web-{E25B643F-AE8C-4295-B236-CC6294E06330}" dt="2026-01-23T07:35:44.443" v="1" actId="34807"/>
          <ac:picMkLst>
            <pc:docMk/>
            <pc:sldMk cId="2127061661" sldId="2564"/>
            <ac:picMk id="5" creationId="{5EC4632B-5B27-4AF5-A798-0486F8A57354}"/>
          </ac:picMkLst>
        </pc:picChg>
      </pc:sldChg>
      <pc:sldChg chg="modSp add mod modTransition modClrScheme addAnim chgLayout">
        <pc:chgData name="" userId="" providerId="" clId="Web-{E25B643F-AE8C-4295-B236-CC6294E06330}" dt="2026-01-23T07:35:44.443" v="8" actId="34807"/>
        <pc:sldMkLst>
          <pc:docMk/>
          <pc:sldMk cId="3672795737" sldId="2565"/>
        </pc:sldMkLst>
        <pc:spChg chg="mod">
          <ac:chgData name="" userId="" providerId="" clId="Web-{E25B643F-AE8C-4295-B236-CC6294E06330}" dt="2026-01-23T07:35:44.443" v="1" actId="34807"/>
          <ac:spMkLst>
            <pc:docMk/>
            <pc:sldMk cId="3672795737" sldId="2565"/>
            <ac:spMk id="2" creationId="{82D19D45-9C25-ED23-E352-3F8C75491D07}"/>
          </ac:spMkLst>
        </pc:spChg>
        <pc:spChg chg="mod">
          <ac:chgData name="" userId="" providerId="" clId="Web-{E25B643F-AE8C-4295-B236-CC6294E06330}" dt="2026-01-23T07:35:44.443" v="1" actId="34807"/>
          <ac:spMkLst>
            <pc:docMk/>
            <pc:sldMk cId="3672795737" sldId="2565"/>
            <ac:spMk id="4" creationId="{20ECF027-7921-D8A5-515B-5E1FCA026D57}"/>
          </ac:spMkLst>
        </pc:spChg>
        <pc:picChg chg="mod ord">
          <ac:chgData name="" userId="" providerId="" clId="Web-{E25B643F-AE8C-4295-B236-CC6294E06330}" dt="2026-01-23T07:35:44.443" v="1" actId="34807"/>
          <ac:picMkLst>
            <pc:docMk/>
            <pc:sldMk cId="3672795737" sldId="2565"/>
            <ac:picMk id="5" creationId="{8D806AC4-46CC-4C60-80D7-4126DBF10CF4}"/>
          </ac:picMkLst>
        </pc:picChg>
      </pc:sldChg>
      <pc:sldChg chg="modSp add mod modTransition modClrScheme addAnim chgLayout">
        <pc:chgData name="" userId="" providerId="" clId="Web-{E25B643F-AE8C-4295-B236-CC6294E06330}" dt="2026-01-23T07:35:44.443" v="9" actId="34807"/>
        <pc:sldMkLst>
          <pc:docMk/>
          <pc:sldMk cId="48847181" sldId="2566"/>
        </pc:sldMkLst>
        <pc:spChg chg="mod">
          <ac:chgData name="" userId="" providerId="" clId="Web-{E25B643F-AE8C-4295-B236-CC6294E06330}" dt="2026-01-23T07:35:44.443" v="1" actId="34807"/>
          <ac:spMkLst>
            <pc:docMk/>
            <pc:sldMk cId="48847181" sldId="2566"/>
            <ac:spMk id="2" creationId="{B6A8778F-B226-3142-519E-5CA004E4C0E4}"/>
          </ac:spMkLst>
        </pc:spChg>
        <pc:spChg chg="mod">
          <ac:chgData name="" userId="" providerId="" clId="Web-{E25B643F-AE8C-4295-B236-CC6294E06330}" dt="2026-01-23T07:35:44.443" v="1" actId="34807"/>
          <ac:spMkLst>
            <pc:docMk/>
            <pc:sldMk cId="48847181" sldId="2566"/>
            <ac:spMk id="4" creationId="{723692FB-3E6C-7839-0B9B-8C6FAFDB41CE}"/>
          </ac:spMkLst>
        </pc:spChg>
        <pc:picChg chg="mod ord">
          <ac:chgData name="" userId="" providerId="" clId="Web-{E25B643F-AE8C-4295-B236-CC6294E06330}" dt="2026-01-23T07:35:44.443" v="1" actId="34807"/>
          <ac:picMkLst>
            <pc:docMk/>
            <pc:sldMk cId="48847181" sldId="2566"/>
            <ac:picMk id="5" creationId="{6ED8F6A3-66D0-47C3-BFE7-CF377CC52756}"/>
          </ac:picMkLst>
        </pc:picChg>
      </pc:sldChg>
      <pc:sldChg chg="modSp add mod modTransition modClrScheme addAnim chgLayout">
        <pc:chgData name="" userId="" providerId="" clId="Web-{E25B643F-AE8C-4295-B236-CC6294E06330}" dt="2026-01-23T07:35:44.443" v="10" actId="34807"/>
        <pc:sldMkLst>
          <pc:docMk/>
          <pc:sldMk cId="881433560" sldId="2567"/>
        </pc:sldMkLst>
        <pc:spChg chg="mod">
          <ac:chgData name="" userId="" providerId="" clId="Web-{E25B643F-AE8C-4295-B236-CC6294E06330}" dt="2026-01-23T07:35:44.443" v="1" actId="34807"/>
          <ac:spMkLst>
            <pc:docMk/>
            <pc:sldMk cId="881433560" sldId="2567"/>
            <ac:spMk id="2" creationId="{F01C4AD6-FCC8-8C12-F3B4-59CBAED9E1A1}"/>
          </ac:spMkLst>
        </pc:spChg>
        <pc:spChg chg="mod">
          <ac:chgData name="" userId="" providerId="" clId="Web-{E25B643F-AE8C-4295-B236-CC6294E06330}" dt="2026-01-23T07:35:44.443" v="1" actId="34807"/>
          <ac:spMkLst>
            <pc:docMk/>
            <pc:sldMk cId="881433560" sldId="2567"/>
            <ac:spMk id="4" creationId="{C80B666C-A41E-863F-3C43-89CCF1F08F06}"/>
          </ac:spMkLst>
        </pc:spChg>
        <pc:picChg chg="mod ord">
          <ac:chgData name="" userId="" providerId="" clId="Web-{E25B643F-AE8C-4295-B236-CC6294E06330}" dt="2026-01-23T07:35:44.443" v="1" actId="34807"/>
          <ac:picMkLst>
            <pc:docMk/>
            <pc:sldMk cId="881433560" sldId="2567"/>
            <ac:picMk id="5" creationId="{240D67D1-BF67-411D-B6DC-B003591B02F5}"/>
          </ac:picMkLst>
        </pc:picChg>
      </pc:sldChg>
      <pc:sldChg chg="modSp add mod modTransition addAnim chgLayout">
        <pc:chgData name="" userId="" providerId="" clId="Web-{E25B643F-AE8C-4295-B236-CC6294E06330}" dt="2026-01-23T07:35:44.443" v="11" actId="34807"/>
        <pc:sldMkLst>
          <pc:docMk/>
          <pc:sldMk cId="3618375618" sldId="2568"/>
        </pc:sldMkLst>
        <pc:spChg chg="mod">
          <ac:chgData name="" userId="" providerId="" clId="Web-{E25B643F-AE8C-4295-B236-CC6294E06330}" dt="2026-01-23T07:35:44.443" v="1" actId="34807"/>
          <ac:spMkLst>
            <pc:docMk/>
            <pc:sldMk cId="3618375618" sldId="2568"/>
            <ac:spMk id="2" creationId="{C5831203-BCAE-AABC-1019-F5D22BE51C7A}"/>
          </ac:spMkLst>
        </pc:spChg>
      </pc:sldChg>
      <pc:sldChg chg="modSp add mod modTransition modClrScheme addAnim chgLayout">
        <pc:chgData name="" userId="" providerId="" clId="Web-{E25B643F-AE8C-4295-B236-CC6294E06330}" dt="2026-01-23T07:35:44.443" v="12" actId="34807"/>
        <pc:sldMkLst>
          <pc:docMk/>
          <pc:sldMk cId="2708248707" sldId="2569"/>
        </pc:sldMkLst>
        <pc:spChg chg="mod">
          <ac:chgData name="" userId="" providerId="" clId="Web-{E25B643F-AE8C-4295-B236-CC6294E06330}" dt="2026-01-23T07:35:44.443" v="1" actId="34807"/>
          <ac:spMkLst>
            <pc:docMk/>
            <pc:sldMk cId="2708248707" sldId="2569"/>
            <ac:spMk id="2" creationId="{CF6ECFCC-3199-B2C4-4242-DF4153A2A003}"/>
          </ac:spMkLst>
        </pc:spChg>
        <pc:spChg chg="mod">
          <ac:chgData name="" userId="" providerId="" clId="Web-{E25B643F-AE8C-4295-B236-CC6294E06330}" dt="2026-01-23T07:35:44.443" v="1" actId="34807"/>
          <ac:spMkLst>
            <pc:docMk/>
            <pc:sldMk cId="2708248707" sldId="2569"/>
            <ac:spMk id="4" creationId="{D1994FC9-A30E-F94D-9816-E12799268557}"/>
          </ac:spMkLst>
        </pc:spChg>
        <pc:picChg chg="mod ord">
          <ac:chgData name="" userId="" providerId="" clId="Web-{E25B643F-AE8C-4295-B236-CC6294E06330}" dt="2026-01-23T07:35:44.443" v="1" actId="34807"/>
          <ac:picMkLst>
            <pc:docMk/>
            <pc:sldMk cId="2708248707" sldId="2569"/>
            <ac:picMk id="5" creationId="{BCFBD223-1C1E-459C-BB2C-2B00A3C60DE7}"/>
          </ac:picMkLst>
        </pc:picChg>
      </pc:sldChg>
      <pc:sldChg chg="modSp add mod modTransition modClrScheme addAnim chgLayout">
        <pc:chgData name="" userId="" providerId="" clId="Web-{E25B643F-AE8C-4295-B236-CC6294E06330}" dt="2026-01-23T07:35:44.443" v="13" actId="34807"/>
        <pc:sldMkLst>
          <pc:docMk/>
          <pc:sldMk cId="2968362891" sldId="2570"/>
        </pc:sldMkLst>
        <pc:spChg chg="mod">
          <ac:chgData name="" userId="" providerId="" clId="Web-{E25B643F-AE8C-4295-B236-CC6294E06330}" dt="2026-01-23T07:35:44.443" v="1" actId="34807"/>
          <ac:spMkLst>
            <pc:docMk/>
            <pc:sldMk cId="2968362891" sldId="2570"/>
            <ac:spMk id="2" creationId="{5F3E0847-5090-6530-12DD-075BA2A62026}"/>
          </ac:spMkLst>
        </pc:spChg>
        <pc:spChg chg="mod">
          <ac:chgData name="" userId="" providerId="" clId="Web-{E25B643F-AE8C-4295-B236-CC6294E06330}" dt="2026-01-23T07:35:44.443" v="1" actId="34807"/>
          <ac:spMkLst>
            <pc:docMk/>
            <pc:sldMk cId="2968362891" sldId="2570"/>
            <ac:spMk id="4" creationId="{4ADAEF03-AFC3-3A67-6969-C98231580C8A}"/>
          </ac:spMkLst>
        </pc:spChg>
        <pc:picChg chg="mod ord">
          <ac:chgData name="" userId="" providerId="" clId="Web-{E25B643F-AE8C-4295-B236-CC6294E06330}" dt="2026-01-23T07:35:44.443" v="1" actId="34807"/>
          <ac:picMkLst>
            <pc:docMk/>
            <pc:sldMk cId="2968362891" sldId="2570"/>
            <ac:picMk id="5" creationId="{58E43B43-E055-4FD9-B916-546ACD883960}"/>
          </ac:picMkLst>
        </pc:picChg>
      </pc:sldChg>
      <pc:sldChg chg="modSp add mod modTransition modClrScheme addAnim chgLayout">
        <pc:chgData name="" userId="" providerId="" clId="Web-{E25B643F-AE8C-4295-B236-CC6294E06330}" dt="2026-01-23T07:35:44.443" v="14" actId="34807"/>
        <pc:sldMkLst>
          <pc:docMk/>
          <pc:sldMk cId="3369208753" sldId="2571"/>
        </pc:sldMkLst>
        <pc:spChg chg="mod">
          <ac:chgData name="" userId="" providerId="" clId="Web-{E25B643F-AE8C-4295-B236-CC6294E06330}" dt="2026-01-23T07:35:44.443" v="1" actId="34807"/>
          <ac:spMkLst>
            <pc:docMk/>
            <pc:sldMk cId="3369208753" sldId="2571"/>
            <ac:spMk id="2" creationId="{1E8E9AB5-FE19-BB63-EDFA-67638D0E740F}"/>
          </ac:spMkLst>
        </pc:spChg>
        <pc:spChg chg="mod">
          <ac:chgData name="" userId="" providerId="" clId="Web-{E25B643F-AE8C-4295-B236-CC6294E06330}" dt="2026-01-23T07:35:44.443" v="1" actId="34807"/>
          <ac:spMkLst>
            <pc:docMk/>
            <pc:sldMk cId="3369208753" sldId="2571"/>
            <ac:spMk id="4" creationId="{86B7B372-2D89-3279-6FFA-93A03D829413}"/>
          </ac:spMkLst>
        </pc:spChg>
        <pc:picChg chg="mod">
          <ac:chgData name="" userId="" providerId="" clId="Web-{E25B643F-AE8C-4295-B236-CC6294E06330}" dt="2026-01-23T07:35:44.443" v="1" actId="34807"/>
          <ac:picMkLst>
            <pc:docMk/>
            <pc:sldMk cId="3369208753" sldId="2571"/>
            <ac:picMk id="5" creationId="{EE8C2E5F-1D4E-4582-B459-3F14A731FE37}"/>
          </ac:picMkLst>
        </pc:picChg>
      </pc:sldChg>
      <pc:sldChg chg="modSp add mod modTransition addAnim chgLayout">
        <pc:chgData name="" userId="" providerId="" clId="Web-{E25B643F-AE8C-4295-B236-CC6294E06330}" dt="2026-01-23T07:35:44.459" v="15" actId="34807"/>
        <pc:sldMkLst>
          <pc:docMk/>
          <pc:sldMk cId="1136661111" sldId="2572"/>
        </pc:sldMkLst>
        <pc:spChg chg="mod">
          <ac:chgData name="" userId="" providerId="" clId="Web-{E25B643F-AE8C-4295-B236-CC6294E06330}" dt="2026-01-23T07:35:44.443" v="1" actId="34807"/>
          <ac:spMkLst>
            <pc:docMk/>
            <pc:sldMk cId="1136661111" sldId="2572"/>
            <ac:spMk id="2" creationId="{77083DEE-5F2F-104F-DD6B-D67F80C54C5C}"/>
          </ac:spMkLst>
        </pc:spChg>
      </pc:sldChg>
      <pc:sldChg chg="modSp add mod modTransition">
        <pc:chgData name="" userId="" providerId="" clId="Web-{E25B643F-AE8C-4295-B236-CC6294E06330}" dt="2026-01-23T07:35:44.443" v="1" actId="34807"/>
        <pc:sldMkLst>
          <pc:docMk/>
          <pc:sldMk cId="198981377" sldId="2573"/>
        </pc:sldMkLst>
        <pc:spChg chg="mod">
          <ac:chgData name="" userId="" providerId="" clId="Web-{E25B643F-AE8C-4295-B236-CC6294E06330}" dt="2026-01-23T07:35:44.443" v="1" actId="34807"/>
          <ac:spMkLst>
            <pc:docMk/>
            <pc:sldMk cId="198981377" sldId="2573"/>
            <ac:spMk id="2" creationId="{4665C74D-F332-179A-CBA3-8B12AA0951CD}"/>
          </ac:spMkLst>
        </pc:spChg>
        <pc:graphicFrameChg chg="mod">
          <ac:chgData name="" userId="" providerId="" clId="Web-{E25B643F-AE8C-4295-B236-CC6294E06330}" dt="2026-01-23T07:35:44.443" v="1" actId="34807"/>
          <ac:graphicFrameMkLst>
            <pc:docMk/>
            <pc:sldMk cId="198981377" sldId="2573"/>
            <ac:graphicFrameMk id="5" creationId="{DEFD99D9-4661-4CD6-AB06-7F12421D649A}"/>
          </ac:graphicFrameMkLst>
        </pc:graphicFrameChg>
      </pc:sldChg>
      <pc:sldChg chg="modSp add mod modTransition modClrScheme addAnim chgLayout">
        <pc:chgData name="" userId="" providerId="" clId="Web-{E25B643F-AE8C-4295-B236-CC6294E06330}" dt="2026-01-23T07:35:44.459" v="16" actId="34807"/>
        <pc:sldMkLst>
          <pc:docMk/>
          <pc:sldMk cId="1261537286" sldId="2574"/>
        </pc:sldMkLst>
        <pc:spChg chg="mod">
          <ac:chgData name="" userId="" providerId="" clId="Web-{E25B643F-AE8C-4295-B236-CC6294E06330}" dt="2026-01-23T07:35:44.443" v="1" actId="34807"/>
          <ac:spMkLst>
            <pc:docMk/>
            <pc:sldMk cId="1261537286" sldId="2574"/>
            <ac:spMk id="2" creationId="{D8C51250-601B-C545-D6B0-01F950D0E308}"/>
          </ac:spMkLst>
        </pc:spChg>
        <pc:spChg chg="mod">
          <ac:chgData name="" userId="" providerId="" clId="Web-{E25B643F-AE8C-4295-B236-CC6294E06330}" dt="2026-01-23T07:35:44.443" v="1" actId="34807"/>
          <ac:spMkLst>
            <pc:docMk/>
            <pc:sldMk cId="1261537286" sldId="2574"/>
            <ac:spMk id="4" creationId="{BA74D10A-E57E-AD3D-BFBA-343DD7C59C8C}"/>
          </ac:spMkLst>
        </pc:spChg>
        <pc:picChg chg="mod">
          <ac:chgData name="" userId="" providerId="" clId="Web-{E25B643F-AE8C-4295-B236-CC6294E06330}" dt="2026-01-23T07:35:44.443" v="1" actId="34807"/>
          <ac:picMkLst>
            <pc:docMk/>
            <pc:sldMk cId="1261537286" sldId="2574"/>
            <ac:picMk id="5" creationId="{8AC92E76-807A-4BED-B742-760349ED6115}"/>
          </ac:picMkLst>
        </pc:picChg>
      </pc:sldChg>
      <pc:sldChg chg="modSp add mod modTransition modClrScheme chgLayout">
        <pc:chgData name="" userId="" providerId="" clId="Web-{E25B643F-AE8C-4295-B236-CC6294E06330}" dt="2026-01-23T07:35:44.443" v="1" actId="34807"/>
        <pc:sldMkLst>
          <pc:docMk/>
          <pc:sldMk cId="419599539" sldId="2575"/>
        </pc:sldMkLst>
        <pc:spChg chg="mod">
          <ac:chgData name="" userId="" providerId="" clId="Web-{E25B643F-AE8C-4295-B236-CC6294E06330}" dt="2026-01-23T07:35:44.443" v="1" actId="34807"/>
          <ac:spMkLst>
            <pc:docMk/>
            <pc:sldMk cId="419599539" sldId="2575"/>
            <ac:spMk id="2" creationId="{B06C42CC-68FC-F2C9-9B3F-706504D5B4CF}"/>
          </ac:spMkLst>
        </pc:spChg>
        <pc:graphicFrameChg chg="mod">
          <ac:chgData name="" userId="" providerId="" clId="Web-{E25B643F-AE8C-4295-B236-CC6294E06330}" dt="2026-01-23T07:35:44.443" v="1" actId="34807"/>
          <ac:graphicFrameMkLst>
            <pc:docMk/>
            <pc:sldMk cId="419599539" sldId="2575"/>
            <ac:graphicFrameMk id="5" creationId="{FD86DDFC-7AA3-456A-9099-FBA992466BB8}"/>
          </ac:graphicFrameMkLst>
        </pc:graphicFrameChg>
      </pc:sldChg>
    </pc:docChg>
  </pc:docChgLst>
  <pc:docChgLst>
    <pc:chgData name="Karvendhan Nagaraj" userId="S::karvendhan.nagaraj@corrohealth.com::830acc24-6abd-4944-ae97-89629f8ad5ab" providerId="AD" clId="Web-{CA5CB223-182A-48EF-38EF-7F67875538A1}"/>
    <pc:docChg chg="delSld delSection modSection">
      <pc:chgData name="Karvendhan Nagaraj" userId="S::karvendhan.nagaraj@corrohealth.com::830acc24-6abd-4944-ae97-89629f8ad5ab" providerId="AD" clId="Web-{CA5CB223-182A-48EF-38EF-7F67875538A1}" dt="2026-01-23T07:39:05.225" v="4"/>
      <pc:docMkLst>
        <pc:docMk/>
      </pc:docMkLst>
      <pc:sldChg chg="del">
        <pc:chgData name="Karvendhan Nagaraj" userId="S::karvendhan.nagaraj@corrohealth.com::830acc24-6abd-4944-ae97-89629f8ad5ab" providerId="AD" clId="Web-{CA5CB223-182A-48EF-38EF-7F67875538A1}" dt="2026-01-23T07:38:53.631" v="0"/>
        <pc:sldMkLst>
          <pc:docMk/>
          <pc:sldMk cId="1136661111" sldId="2572"/>
        </pc:sldMkLst>
      </pc:sldChg>
      <pc:sldChg chg="del">
        <pc:chgData name="Karvendhan Nagaraj" userId="S::karvendhan.nagaraj@corrohealth.com::830acc24-6abd-4944-ae97-89629f8ad5ab" providerId="AD" clId="Web-{CA5CB223-182A-48EF-38EF-7F67875538A1}" dt="2026-01-23T07:38:56.537" v="1"/>
        <pc:sldMkLst>
          <pc:docMk/>
          <pc:sldMk cId="198981377" sldId="2573"/>
        </pc:sldMkLst>
      </pc:sldChg>
      <pc:sldChg chg="del">
        <pc:chgData name="Karvendhan Nagaraj" userId="S::karvendhan.nagaraj@corrohealth.com::830acc24-6abd-4944-ae97-89629f8ad5ab" providerId="AD" clId="Web-{CA5CB223-182A-48EF-38EF-7F67875538A1}" dt="2026-01-23T07:38:59.241" v="2"/>
        <pc:sldMkLst>
          <pc:docMk/>
          <pc:sldMk cId="1261537286" sldId="2574"/>
        </pc:sldMkLst>
      </pc:sldChg>
      <pc:sldChg chg="del">
        <pc:chgData name="Karvendhan Nagaraj" userId="S::karvendhan.nagaraj@corrohealth.com::830acc24-6abd-4944-ae97-89629f8ad5ab" providerId="AD" clId="Web-{CA5CB223-182A-48EF-38EF-7F67875538A1}" dt="2026-01-23T07:39:01.584" v="3"/>
        <pc:sldMkLst>
          <pc:docMk/>
          <pc:sldMk cId="419599539" sldId="257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1/23/2026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3651524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HIM – Report Optimization, CORRO QA – Key Achievements, New Dashboards and Reporting Enhancements, Bulk Upload and User Management Improvements, Team Leadership and Collaboration</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3945439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HIM report optimization initiative focused on enhancing usability and performance through the implementation of a multiselect filter feature. This improvement allowed users to apply multiple criteria simultaneously, reducing the time spent navigating individual filters and improving overall efficiency. By streamlining the filtering process, the reporting system became more intuitive and user-friendly, which is critical for large-scale data analysis environments. Additionally, the optimization reduced server-side load by minimizing redundant queries, leading to faster response times and improved scalability. The project also involved rigorous testing to ensure compatibility across different modules and browsers, thereby maintaining consistency in user experience. This enhancement not only addressed existing pain points but also laid the foundation for future reporting capabilities, such as dynamic dashboards and advanced analytics. The multiselect filter implementation demonstrates a commitment to continuous improvement and aligns with organizational goals of delivering high-performance, user-centric solutions.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085883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CORRO QA initiative delivered significant technical and operational improvements across multiple dimensions. First, the entire application code underwent optimization, resulting in cleaner architecture and improved maintainability. Centralized custom field rendering and option loading mechanisms were introduced, reducing redundancy and ensuring consistent behavior across modules. Database optimization was a major milestone, shrinking storage requirements from 10GB to just 2GB, which improved query performance and reduced infrastructure costs. Another notable achievement was reducing project creation time from six days to just two hours, thanks to streamlined workflows and automation. The team also implemented MySQL stored procedure optimization and revamped the codebase to support modern standards. These efforts collectively enhanced system reliability, scalability, and user experience. By addressing critical bottlenecks and introducing best practices, CORRO QA positioned the platform for future growth and innovation.</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383618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introduction of new dashboards marked a significant leap in data visualization and decision-making capabilities. Key dashboards included Audit Results and Final Outcomes, Analytics Overview, Auditor Performance, Representative Performance, and Error Category analysis. These dashboards provided stakeholders with actionable insights through intuitive layouts and interactive elements. Enhancements to Team and My Reports included column hide/show functionality, improving readability and customization for end-users. Weekly reports and auditor projections were optimized for server-side processing, ensuring faster load times and accurate filtering. These improvements not only streamlined reporting workflows but also empowered managers and auditors to monitor performance trends effectively. By integrating advanced filtering and dynamic components, the dashboards now serve as a central hub for operational intelligence, supporting strategic planning and continuous improvement initiatives.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2688500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Bulk upload functionality was enhanced to eliminate errors and accelerate data ingestion processes. Previously, auditors faced delays and inconsistencies during uploads, but the new implementation introduced robust validation mechanisms and error-free chart generation. This improvement significantly reduced turnaround time and improved data accuracy. In parallel, user management underwent a major upgrade with advanced filtering options, server-side data tables, and bulk upload support. These enhancements simplified administrative tasks, improved scalability, and ensured compliance with organizational standards. By focusing on usability and performance, these changes contributed to a more efficient and reliable system, enabling teams to handle large datasets and user bases without compromising on speed or accuracy.</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472057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Effective team coordination was a cornerstone of this appraisal period. Responsibilities included assigning tasks, monitoring progress, conducting code reviews, and providing technical guidance to team members. By fostering a collaborative environment, the team achieved higher productivity and maintained quality standards across deliverables. Regular feedback sessions and proactive support ensured that challenges were addressed promptly, minimizing delays and enhancing morale. Leadership efforts also extended to mentoring junior developers, promoting best practices, and encouraging knowledge sharing. These initiatives not only strengthened team cohesion but also contributed to the successful execution of complex projects within tight timelines.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2584120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Strengths and Core Competencies, Areas of Improvement and Learning Plan, Next Year Goals and Strategic Vision</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107366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Key strengths demonstrated during this period include a proactive approach to analyzing tasks from multiple perspectives—considering positive, negative, and user-friendly aspects before implementation. The ability to enhance core functionalities by adding value beyond client requirements showcased innovation and customer-centric thinking. Expertise in developing optimized code and database structures ensured high performance and scalability. Strong analytical skills facilitated root cause identification and effective problem-solving, while adherence to structured coding practices maintained consistency and reduced technical debt. These competencies collectively contributed to delivering robust, efficient, and user-focused solutions.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3211592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Continuous improvement remains a priority, with a focus on enhancing communication skills and stakeholder management capabilities. Technical learning goals include mastering Node.js, TypeScript, React, AI technologies, and PostgreSQL to stay aligned with evolving industry trends. Additionally, exploring advanced tools such as Grafana for monitoring and SonarQube for code quality will strengthen system reliability and maintainability. Emphasis will also be placed on understanding AI-driven features and integrating them into workflows for automation and predictive analytics. These initiatives aim to broaden technical expertise and improve cross-functional collaboration.</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1018631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Future objectives include driving CorroPro development with cutting-edge technologies and implementing advanced monitoring solutions using Grafana and SonarQube. Exploring AI capabilities for automation and intelligent decision-making will be a key focus area. Additional goals involve maintaining server infrastructure, optimizing performance, and adopting emerging frameworks to enhance scalability. By aligning these initiatives with organizational priorities, the aim is to deliver innovative solutions that improve operational efficiency and create long-term value for stakeholders.</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1260392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appraisal concludes with a note of gratitude, acknowledging the opportunity to present achievements and future plans. The employee expresses sincere appreciation for the support received and reiterates a commitment to contributing to organizational success. This closing statement reinforces the collaborative spirit and dedication to quality that underpin the employee’s professional journey. By maintaining a focus on excellence and continuous improvement, the employee aims to strengthen their role as a key resource in quality assurance and drive impactful outcomes in the coming year.</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129697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3770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0009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039015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044568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16740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61858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88428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8397197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240755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7168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6303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0877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1545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58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62798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64445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05038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0726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893579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00994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886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8612010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313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869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170958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291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2115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551512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72769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315290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7773561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73767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55429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4696798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322134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68177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77309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36553323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46644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2719884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751178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1543796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224012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56379703"/>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32899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888996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66511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3601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840229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95806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666360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20569987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6246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17197501"/>
      </p:ext>
    </p:extLst>
  </p:cSld>
  <p:clrMap bg1="lt1" tx1="dk1" bg2="lt2" tx2="dk2" accent1="accent1" accent2="accent2" accent3="accent3" accent4="accent4" accent5="accent5" accent6="accent6" hlink="hlink" folHlink="folHlink"/>
  <p:sldLayoutIdLst>
    <p:sldLayoutId id="2147484168" r:id="rId1"/>
    <p:sldLayoutId id="2147484164" r:id="rId2"/>
    <p:sldLayoutId id="2147484169" r:id="rId3"/>
    <p:sldLayoutId id="2147484170" r:id="rId4"/>
    <p:sldLayoutId id="2147484163" r:id="rId5"/>
    <p:sldLayoutId id="2147484165" r:id="rId6"/>
    <p:sldLayoutId id="2147484166" r:id="rId7"/>
    <p:sldLayoutId id="2147484167"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 id="2147484179" r:id="rId17"/>
    <p:sldLayoutId id="2147484180" r:id="rId18"/>
    <p:sldLayoutId id="2147484181" r:id="rId19"/>
    <p:sldLayoutId id="2147484182" r:id="rId20"/>
    <p:sldLayoutId id="2147484183" r:id="rId21"/>
    <p:sldLayoutId id="2147484184" r:id="rId22"/>
    <p:sldLayoutId id="2147484185" r:id="rId23"/>
    <p:sldLayoutId id="2147484186" r:id="rId24"/>
    <p:sldLayoutId id="2147484187" r:id="rId25"/>
    <p:sldLayoutId id="2147484188" r:id="rId26"/>
    <p:sldLayoutId id="2147484189" r:id="rId27"/>
    <p:sldLayoutId id="2147484190" r:id="rId28"/>
    <p:sldLayoutId id="2147484191" r:id="rId29"/>
    <p:sldLayoutId id="2147484192" r:id="rId30"/>
    <p:sldLayoutId id="2147484193" r:id="rId31"/>
    <p:sldLayoutId id="2147484194" r:id="rId32"/>
    <p:sldLayoutId id="2147484195" r:id="rId33"/>
    <p:sldLayoutId id="2147484196" r:id="rId34"/>
    <p:sldLayoutId id="2147484197" r:id="rId35"/>
    <p:sldLayoutId id="2147484198" r:id="rId36"/>
    <p:sldLayoutId id="2147484199" r:id="rId37"/>
    <p:sldLayoutId id="2147484200" r:id="rId38"/>
    <p:sldLayoutId id="2147484201" r:id="rId39"/>
    <p:sldLayoutId id="2147484202" r:id="rId40"/>
    <p:sldLayoutId id="2147484203" r:id="rId41"/>
    <p:sldLayoutId id="2147484216" r:id="rId42"/>
    <p:sldLayoutId id="2147484205" r:id="rId43"/>
    <p:sldLayoutId id="2147484206" r:id="rId44"/>
    <p:sldLayoutId id="2147484207" r:id="rId45"/>
    <p:sldLayoutId id="2147484208" r:id="rId46"/>
    <p:sldLayoutId id="2147484209" r:id="rId47"/>
    <p:sldLayoutId id="2147484210" r:id="rId48"/>
    <p:sldLayoutId id="2147484211" r:id="rId49"/>
    <p:sldLayoutId id="2147484212" r:id="rId50"/>
    <p:sldLayoutId id="2147484213" r:id="rId51"/>
    <p:sldLayoutId id="2147484214" r:id="rId52"/>
    <p:sldLayoutId id="2147484215"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12.2"/><Relationship Id="rId2" Type="http://schemas.openxmlformats.org/officeDocument/2006/relationships/notesSlide" Target="../notesSlides/notesSlide7.xml"/><Relationship Id="rId1" Type="http://schemas.openxmlformats.org/officeDocument/2006/relationships/slideLayout" Target="../slideLayouts/slideLayout22.xml"/><Relationship Id="rId4" Type="http://schemas.openxmlformats.org/officeDocument/2006/relationships/hyperlink" Target="https://www.rawpixel.com/image/456089/business-teamwork"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0B941-38CD-E463-4544-E78D425578EF}"/>
              </a:ext>
            </a:extLst>
          </p:cNvPr>
          <p:cNvSpPr>
            <a:spLocks noGrp="1"/>
          </p:cNvSpPr>
          <p:nvPr>
            <p:ph type="ctrTitle"/>
          </p:nvPr>
        </p:nvSpPr>
        <p:spPr>
          <a:xfrm>
            <a:off x="609600" y="2154268"/>
            <a:ext cx="4856348" cy="1731932"/>
          </a:xfrm>
        </p:spPr>
        <p:txBody>
          <a:bodyPr anchor="b">
            <a:normAutofit fontScale="90000"/>
          </a:bodyPr>
          <a:lstStyle/>
          <a:p>
            <a:r>
              <a:rPr lang="en-US" sz="2800" b="0" dirty="0"/>
              <a:t>Performance &amp; Project Delivery Presentation – Karvendhan Nagaraj</a:t>
            </a:r>
            <a:br>
              <a:rPr lang="en-US" sz="2800" b="0" dirty="0"/>
            </a:br>
            <a:br>
              <a:rPr lang="en-US" sz="2800" b="0" dirty="0"/>
            </a:br>
            <a:endParaRPr lang="en-US" sz="2800" b="0" dirty="0"/>
          </a:p>
        </p:txBody>
      </p:sp>
      <p:sp>
        <p:nvSpPr>
          <p:cNvPr id="3" name="Subtitle 2">
            <a:extLst>
              <a:ext uri="{FF2B5EF4-FFF2-40B4-BE49-F238E27FC236}">
                <a16:creationId xmlns:a16="http://schemas.microsoft.com/office/drawing/2014/main" id="{5E903B14-EC21-2653-BED4-0F4730D4B95E}"/>
              </a:ext>
            </a:extLst>
          </p:cNvPr>
          <p:cNvSpPr>
            <a:spLocks noGrp="1"/>
          </p:cNvSpPr>
          <p:nvPr>
            <p:ph type="subTitle" idx="1"/>
          </p:nvPr>
        </p:nvSpPr>
        <p:spPr>
          <a:xfrm>
            <a:off x="609600" y="4142852"/>
            <a:ext cx="4856348" cy="2029344"/>
          </a:xfrm>
        </p:spPr>
        <p:txBody>
          <a:bodyPr>
            <a:normAutofit/>
          </a:bodyPr>
          <a:lstStyle/>
          <a:p>
            <a:r>
              <a:rPr lang="en-US" b="0" dirty="0"/>
              <a:t>Strategies for effective execution and successful outcomes</a:t>
            </a:r>
          </a:p>
        </p:txBody>
      </p:sp>
      <p:pic>
        <p:nvPicPr>
          <p:cNvPr id="4" name="Picture 3" descr="Two people, man and woman, working together in office, business meeting, cropped photo.">
            <a:extLst>
              <a:ext uri="{FF2B5EF4-FFF2-40B4-BE49-F238E27FC236}">
                <a16:creationId xmlns:a16="http://schemas.microsoft.com/office/drawing/2014/main" id="{5A47285A-6248-45C2-B6E8-0BEFB2C1675B}"/>
              </a:ext>
            </a:extLst>
          </p:cNvPr>
          <p:cNvPicPr>
            <a:picLocks noChangeAspect="1"/>
          </p:cNvPicPr>
          <p:nvPr/>
        </p:nvPicPr>
        <p:blipFill>
          <a:blip r:embed="rId3"/>
          <a:srcRect l="6037" r="35999" b="1"/>
          <a:stretch>
            <a:fillRect/>
          </a:stretch>
        </p:blipFill>
        <p:spPr>
          <a:xfrm>
            <a:off x="6366168" y="233172"/>
            <a:ext cx="5550408" cy="6391656"/>
          </a:xfrm>
          <a:prstGeom prst="rect">
            <a:avLst/>
          </a:prstGeom>
          <a:noFill/>
        </p:spPr>
      </p:pic>
    </p:spTree>
    <p:extLst>
      <p:ext uri="{BB962C8B-B14F-4D97-AF65-F5344CB8AC3E}">
        <p14:creationId xmlns:p14="http://schemas.microsoft.com/office/powerpoint/2010/main" val="1397820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9F698-D5A6-3B87-6E49-EDD40A845C17}"/>
              </a:ext>
            </a:extLst>
          </p:cNvPr>
          <p:cNvSpPr>
            <a:spLocks noGrp="1"/>
          </p:cNvSpPr>
          <p:nvPr>
            <p:ph type="ctrTitle"/>
          </p:nvPr>
        </p:nvSpPr>
        <p:spPr>
          <a:xfrm>
            <a:off x="612648" y="1417671"/>
            <a:ext cx="7909560" cy="4754529"/>
          </a:xfrm>
        </p:spPr>
        <p:txBody>
          <a:bodyPr anchor="b">
            <a:normAutofit/>
          </a:bodyPr>
          <a:lstStyle/>
          <a:p>
            <a:r>
              <a:rPr lang="en-US" sz="2800" b="0">
                <a:latin typeface="Calibri"/>
              </a:rPr>
              <a:t>Appraisal Highlights</a:t>
            </a:r>
          </a:p>
        </p:txBody>
      </p:sp>
    </p:spTree>
    <p:extLst>
      <p:ext uri="{BB962C8B-B14F-4D97-AF65-F5344CB8AC3E}">
        <p14:creationId xmlns:p14="http://schemas.microsoft.com/office/powerpoint/2010/main" val="31096502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C85A0-C30A-677B-3359-A5C4D073ADB4}"/>
              </a:ext>
            </a:extLst>
          </p:cNvPr>
          <p:cNvSpPr>
            <a:spLocks noGrp="1"/>
          </p:cNvSpPr>
          <p:nvPr>
            <p:ph type="title"/>
          </p:nvPr>
        </p:nvSpPr>
        <p:spPr>
          <a:xfrm>
            <a:off x="609600" y="709099"/>
            <a:ext cx="8019289" cy="891101"/>
          </a:xfrm>
        </p:spPr>
        <p:txBody>
          <a:bodyPr anchor="b">
            <a:normAutofit/>
          </a:bodyPr>
          <a:lstStyle/>
          <a:p>
            <a:r>
              <a:rPr lang="en-US" b="1"/>
              <a:t>HIM – Report Optimization</a:t>
            </a:r>
          </a:p>
        </p:txBody>
      </p:sp>
      <p:sp>
        <p:nvSpPr>
          <p:cNvPr id="4" name="Content Placeholder 3">
            <a:extLst>
              <a:ext uri="{FF2B5EF4-FFF2-40B4-BE49-F238E27FC236}">
                <a16:creationId xmlns:a16="http://schemas.microsoft.com/office/drawing/2014/main" id="{9791BF28-3DBE-6349-51CD-18BC8AB7DF9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sz="1300" b="1"/>
              <a:t>Enhanced Usability</a:t>
            </a:r>
          </a:p>
          <a:p>
            <a:pPr marL="0" lvl="1" indent="0">
              <a:buFont typeface="Arial" panose="020B0604020202020204" pitchFamily="34" charset="0"/>
              <a:buNone/>
            </a:pPr>
            <a:r>
              <a:rPr lang="en-US" sz="1300"/>
              <a:t>Multiselect filters allow users to apply multiple criteria at once, improving efficiency and ease of use.</a:t>
            </a:r>
          </a:p>
          <a:p>
            <a:pPr marL="0" indent="0">
              <a:spcBef>
                <a:spcPts val="2500"/>
              </a:spcBef>
              <a:buFont typeface="Arial" panose="020B0604020202020204" pitchFamily="34" charset="0"/>
              <a:buNone/>
            </a:pPr>
            <a:r>
              <a:rPr lang="en-US" sz="1300" b="1"/>
              <a:t>Performance Improvement</a:t>
            </a:r>
          </a:p>
          <a:p>
            <a:pPr marL="0" lvl="1" indent="0">
              <a:buFont typeface="Arial" panose="020B0604020202020204" pitchFamily="34" charset="0"/>
              <a:buNone/>
            </a:pPr>
            <a:r>
              <a:rPr lang="en-US" sz="1300"/>
              <a:t>Optimization reduces server load by minimizing redundant queries, resulting in faster response times and better scalability.</a:t>
            </a:r>
          </a:p>
          <a:p>
            <a:pPr marL="0" indent="0">
              <a:spcBef>
                <a:spcPts val="2500"/>
              </a:spcBef>
              <a:buFont typeface="Arial" panose="020B0604020202020204" pitchFamily="34" charset="0"/>
              <a:buNone/>
            </a:pPr>
            <a:r>
              <a:rPr lang="en-US" sz="1300" b="1"/>
              <a:t>Comprehensive Testing</a:t>
            </a:r>
          </a:p>
          <a:p>
            <a:pPr marL="0" lvl="1" indent="0">
              <a:buFont typeface="Arial" panose="020B0604020202020204" pitchFamily="34" charset="0"/>
              <a:buNone/>
            </a:pPr>
            <a:r>
              <a:rPr lang="en-US" sz="1300"/>
              <a:t>Rigorous testing ensures compatibility across modules and browsers, maintaining a consistent user experience.</a:t>
            </a:r>
          </a:p>
          <a:p>
            <a:pPr marL="0" indent="0">
              <a:spcBef>
                <a:spcPts val="2500"/>
              </a:spcBef>
              <a:buFont typeface="Arial" panose="020B0604020202020204" pitchFamily="34" charset="0"/>
              <a:buNone/>
            </a:pPr>
            <a:r>
              <a:rPr lang="en-US" sz="1300" b="1"/>
              <a:t>Future-Ready Reporting</a:t>
            </a:r>
          </a:p>
          <a:p>
            <a:pPr marL="0" lvl="1" indent="0">
              <a:buFont typeface="Arial" panose="020B0604020202020204" pitchFamily="34" charset="0"/>
              <a:buNone/>
            </a:pPr>
            <a:r>
              <a:rPr lang="en-US" sz="1300"/>
              <a:t>This optimization lays groundwork for advanced features like dynamic dashboards and sophisticated analytics.</a:t>
            </a:r>
          </a:p>
        </p:txBody>
      </p:sp>
      <p:pic>
        <p:nvPicPr>
          <p:cNvPr id="5" name="Content Placeholder 4" descr="Credit score report">
            <a:extLst>
              <a:ext uri="{FF2B5EF4-FFF2-40B4-BE49-F238E27FC236}">
                <a16:creationId xmlns:a16="http://schemas.microsoft.com/office/drawing/2014/main" id="{28B04E11-A74B-4B9D-9F4B-FA4E9A1C668D}"/>
              </a:ext>
            </a:extLst>
          </p:cNvPr>
          <p:cNvPicPr>
            <a:picLocks noGrp="1" noChangeAspect="1"/>
          </p:cNvPicPr>
          <p:nvPr>
            <p:ph type="pic" sz="quarter" idx="18"/>
          </p:nvPr>
        </p:nvPicPr>
        <p:blipFill>
          <a:blip r:embed="rId3"/>
          <a:srcRect l="31179" r="40343" b="-1"/>
          <a:stretch>
            <a:fillRect/>
          </a:stretch>
        </p:blipFill>
        <p:spPr>
          <a:xfrm>
            <a:off x="9521861" y="269622"/>
            <a:ext cx="2395728" cy="6309360"/>
          </a:xfrm>
          <a:noFill/>
        </p:spPr>
      </p:pic>
    </p:spTree>
    <p:extLst>
      <p:ext uri="{BB962C8B-B14F-4D97-AF65-F5344CB8AC3E}">
        <p14:creationId xmlns:p14="http://schemas.microsoft.com/office/powerpoint/2010/main" val="23030893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7AD74-8019-5DCD-5B93-5DFF33442075}"/>
              </a:ext>
            </a:extLst>
          </p:cNvPr>
          <p:cNvSpPr>
            <a:spLocks noGrp="1"/>
          </p:cNvSpPr>
          <p:nvPr>
            <p:ph type="title"/>
          </p:nvPr>
        </p:nvSpPr>
        <p:spPr>
          <a:xfrm>
            <a:off x="609600" y="709099"/>
            <a:ext cx="8019289" cy="891101"/>
          </a:xfrm>
        </p:spPr>
        <p:txBody>
          <a:bodyPr anchor="b">
            <a:normAutofit/>
          </a:bodyPr>
          <a:lstStyle/>
          <a:p>
            <a:r>
              <a:rPr lang="en-US" b="1"/>
              <a:t>CORRO QA – Key Achievements</a:t>
            </a:r>
          </a:p>
        </p:txBody>
      </p:sp>
      <p:sp>
        <p:nvSpPr>
          <p:cNvPr id="4" name="Content Placeholder 3">
            <a:extLst>
              <a:ext uri="{FF2B5EF4-FFF2-40B4-BE49-F238E27FC236}">
                <a16:creationId xmlns:a16="http://schemas.microsoft.com/office/drawing/2014/main" id="{57568F4B-10C5-7E51-279D-FBCAA1611FC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sz="1300" b="1"/>
              <a:t>Code Optimization and Architecture</a:t>
            </a:r>
          </a:p>
          <a:p>
            <a:pPr marL="0" lvl="1" indent="0">
              <a:buFont typeface="Arial" panose="020B0604020202020204" pitchFamily="34" charset="0"/>
              <a:buNone/>
            </a:pPr>
            <a:r>
              <a:rPr lang="en-US" sz="1300"/>
              <a:t>Application code was optimized for cleaner architecture, improving maintainability and reducing redundancy.</a:t>
            </a:r>
          </a:p>
          <a:p>
            <a:pPr marL="0" indent="0">
              <a:spcBef>
                <a:spcPts val="2500"/>
              </a:spcBef>
              <a:buFont typeface="Arial" panose="020B0604020202020204" pitchFamily="34" charset="0"/>
              <a:buNone/>
            </a:pPr>
            <a:r>
              <a:rPr lang="en-US" sz="1300" b="1"/>
              <a:t>Database Storage and Performance</a:t>
            </a:r>
          </a:p>
          <a:p>
            <a:pPr marL="0" lvl="1" indent="0">
              <a:buFont typeface="Arial" panose="020B0604020202020204" pitchFamily="34" charset="0"/>
              <a:buNone/>
            </a:pPr>
            <a:r>
              <a:rPr lang="en-US" sz="1300"/>
              <a:t>Database optimization reduced storage from 10GB to 2GB, enhancing query speed and lowering costs.</a:t>
            </a:r>
          </a:p>
          <a:p>
            <a:pPr marL="0" indent="0">
              <a:spcBef>
                <a:spcPts val="2500"/>
              </a:spcBef>
              <a:buFont typeface="Arial" panose="020B0604020202020204" pitchFamily="34" charset="0"/>
              <a:buNone/>
            </a:pPr>
            <a:r>
              <a:rPr lang="en-US" sz="1300" b="1"/>
              <a:t>Project Creation Time Reduction</a:t>
            </a:r>
          </a:p>
          <a:p>
            <a:pPr marL="0" lvl="1" indent="0">
              <a:buFont typeface="Arial" panose="020B0604020202020204" pitchFamily="34" charset="0"/>
              <a:buNone/>
            </a:pPr>
            <a:r>
              <a:rPr lang="en-US" sz="1300"/>
              <a:t>Project creation time was cut from six days to two hours through workflow streamlining and automation.</a:t>
            </a:r>
          </a:p>
          <a:p>
            <a:pPr marL="0" indent="0">
              <a:spcBef>
                <a:spcPts val="2500"/>
              </a:spcBef>
              <a:buFont typeface="Arial" panose="020B0604020202020204" pitchFamily="34" charset="0"/>
              <a:buNone/>
            </a:pPr>
            <a:r>
              <a:rPr lang="en-US" sz="1300" b="1"/>
              <a:t>Modernization and Scalability</a:t>
            </a:r>
          </a:p>
          <a:p>
            <a:pPr marL="0" lvl="1" indent="0">
              <a:buFont typeface="Arial" panose="020B0604020202020204" pitchFamily="34" charset="0"/>
              <a:buNone/>
            </a:pPr>
            <a:r>
              <a:rPr lang="en-US" sz="1300"/>
              <a:t>MySQL stored procedure optimization and codebase revamp enhanced system scalability and reliability.</a:t>
            </a:r>
          </a:p>
        </p:txBody>
      </p:sp>
      <p:pic>
        <p:nvPicPr>
          <p:cNvPr id="5" name="Content Placeholder 4" descr="Modern data center and technology background">
            <a:extLst>
              <a:ext uri="{FF2B5EF4-FFF2-40B4-BE49-F238E27FC236}">
                <a16:creationId xmlns:a16="http://schemas.microsoft.com/office/drawing/2014/main" id="{5EC4632B-5B27-4AF5-A798-0486F8A57354}"/>
              </a:ext>
            </a:extLst>
          </p:cNvPr>
          <p:cNvPicPr>
            <a:picLocks noGrp="1" noChangeAspect="1"/>
          </p:cNvPicPr>
          <p:nvPr>
            <p:ph type="pic" sz="quarter" idx="18"/>
          </p:nvPr>
        </p:nvPicPr>
        <p:blipFill>
          <a:blip r:embed="rId3"/>
          <a:srcRect l="32113" r="55262"/>
          <a:stretch>
            <a:fillRect/>
          </a:stretch>
        </p:blipFill>
        <p:spPr>
          <a:xfrm>
            <a:off x="9521861" y="269622"/>
            <a:ext cx="2395728" cy="6309360"/>
          </a:xfrm>
          <a:noFill/>
        </p:spPr>
      </p:pic>
    </p:spTree>
    <p:extLst>
      <p:ext uri="{BB962C8B-B14F-4D97-AF65-F5344CB8AC3E}">
        <p14:creationId xmlns:p14="http://schemas.microsoft.com/office/powerpoint/2010/main" val="21270616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19D45-9C25-ED23-E352-3F8C75491D07}"/>
              </a:ext>
            </a:extLst>
          </p:cNvPr>
          <p:cNvSpPr>
            <a:spLocks noGrp="1"/>
          </p:cNvSpPr>
          <p:nvPr>
            <p:ph type="title"/>
          </p:nvPr>
        </p:nvSpPr>
        <p:spPr>
          <a:xfrm>
            <a:off x="609600" y="709099"/>
            <a:ext cx="8019289" cy="891101"/>
          </a:xfrm>
        </p:spPr>
        <p:txBody>
          <a:bodyPr anchor="b">
            <a:normAutofit/>
          </a:bodyPr>
          <a:lstStyle/>
          <a:p>
            <a:r>
              <a:rPr lang="en-US" b="1"/>
              <a:t>New Dashboards and Reporting Enhancements</a:t>
            </a:r>
          </a:p>
        </p:txBody>
      </p:sp>
      <p:sp>
        <p:nvSpPr>
          <p:cNvPr id="4" name="Content Placeholder 3">
            <a:extLst>
              <a:ext uri="{FF2B5EF4-FFF2-40B4-BE49-F238E27FC236}">
                <a16:creationId xmlns:a16="http://schemas.microsoft.com/office/drawing/2014/main" id="{20ECF027-7921-D8A5-515B-5E1FCA026D5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b="1"/>
              <a:t>Comprehensive Dashboard Suite</a:t>
            </a:r>
          </a:p>
          <a:p>
            <a:pPr marL="0" lvl="1" indent="0">
              <a:buFont typeface="Arial" panose="020B0604020202020204" pitchFamily="34" charset="0"/>
              <a:buNone/>
            </a:pPr>
            <a:r>
              <a:rPr lang="en-US"/>
              <a:t>New dashboards provide actionable insights via audit results, analytics, and performance metrics in intuitive layouts.</a:t>
            </a:r>
          </a:p>
          <a:p>
            <a:pPr marL="0" indent="0">
              <a:spcBef>
                <a:spcPts val="2500"/>
              </a:spcBef>
              <a:buFont typeface="Arial" panose="020B0604020202020204" pitchFamily="34" charset="0"/>
              <a:buNone/>
            </a:pPr>
            <a:r>
              <a:rPr lang="en-US" b="1"/>
              <a:t>Enhanced Report Customization</a:t>
            </a:r>
          </a:p>
          <a:p>
            <a:pPr marL="0" lvl="1" indent="0">
              <a:buFont typeface="Arial" panose="020B0604020202020204" pitchFamily="34" charset="0"/>
              <a:buNone/>
            </a:pPr>
            <a:r>
              <a:rPr lang="en-US"/>
              <a:t>Column hide/show features in reports improve readability and allow user-specific customization.</a:t>
            </a:r>
          </a:p>
          <a:p>
            <a:pPr marL="0" indent="0">
              <a:spcBef>
                <a:spcPts val="2500"/>
              </a:spcBef>
              <a:buFont typeface="Arial" panose="020B0604020202020204" pitchFamily="34" charset="0"/>
              <a:buNone/>
            </a:pPr>
            <a:r>
              <a:rPr lang="en-US" b="1"/>
              <a:t>Optimized Report Performance</a:t>
            </a:r>
          </a:p>
          <a:p>
            <a:pPr marL="0" lvl="1" indent="0">
              <a:buFont typeface="Arial" panose="020B0604020202020204" pitchFamily="34" charset="0"/>
              <a:buNone/>
            </a:pPr>
            <a:r>
              <a:rPr lang="en-US"/>
              <a:t>Server-side processing accelerates weekly reports and auditor projections with accurate filtering.</a:t>
            </a:r>
          </a:p>
          <a:p>
            <a:pPr marL="0" indent="0">
              <a:spcBef>
                <a:spcPts val="2500"/>
              </a:spcBef>
              <a:buFont typeface="Arial" panose="020B0604020202020204" pitchFamily="34" charset="0"/>
              <a:buNone/>
            </a:pPr>
            <a:r>
              <a:rPr lang="en-US" b="1"/>
              <a:t>Centralized Operational Intelligence</a:t>
            </a:r>
          </a:p>
          <a:p>
            <a:pPr marL="0" lvl="1" indent="0">
              <a:buFont typeface="Arial" panose="020B0604020202020204" pitchFamily="34" charset="0"/>
              <a:buNone/>
            </a:pPr>
            <a:r>
              <a:rPr lang="en-US"/>
              <a:t>Dashboards integrate advanced filtering and dynamic components to support strategic planning and improvement.</a:t>
            </a:r>
          </a:p>
        </p:txBody>
      </p:sp>
      <p:pic>
        <p:nvPicPr>
          <p:cNvPr id="5" name="Content Placeholder 4"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8D806AC4-46CC-4C60-80D7-4126DBF10CF4}"/>
              </a:ext>
            </a:extLst>
          </p:cNvPr>
          <p:cNvPicPr>
            <a:picLocks noGrp="1" noChangeAspect="1"/>
          </p:cNvPicPr>
          <p:nvPr>
            <p:ph type="pic" sz="quarter" idx="18"/>
          </p:nvPr>
        </p:nvPicPr>
        <p:blipFill>
          <a:blip r:embed="rId3"/>
          <a:srcRect l="36841" r="43129" b="-1"/>
          <a:stretch>
            <a:fillRect/>
          </a:stretch>
        </p:blipFill>
        <p:spPr>
          <a:xfrm>
            <a:off x="9521861" y="269622"/>
            <a:ext cx="2395728" cy="6309360"/>
          </a:xfrm>
          <a:noFill/>
        </p:spPr>
      </p:pic>
    </p:spTree>
    <p:extLst>
      <p:ext uri="{BB962C8B-B14F-4D97-AF65-F5344CB8AC3E}">
        <p14:creationId xmlns:p14="http://schemas.microsoft.com/office/powerpoint/2010/main" val="3672795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8778F-B226-3142-519E-5CA004E4C0E4}"/>
              </a:ext>
            </a:extLst>
          </p:cNvPr>
          <p:cNvSpPr>
            <a:spLocks noGrp="1"/>
          </p:cNvSpPr>
          <p:nvPr>
            <p:ph type="title"/>
          </p:nvPr>
        </p:nvSpPr>
        <p:spPr>
          <a:xfrm>
            <a:off x="609600" y="709099"/>
            <a:ext cx="8019289" cy="891101"/>
          </a:xfrm>
        </p:spPr>
        <p:txBody>
          <a:bodyPr anchor="b">
            <a:normAutofit/>
          </a:bodyPr>
          <a:lstStyle/>
          <a:p>
            <a:r>
              <a:rPr lang="en-US" b="1"/>
              <a:t>Bulk Upload and User Management Improvements</a:t>
            </a:r>
          </a:p>
        </p:txBody>
      </p:sp>
      <p:sp>
        <p:nvSpPr>
          <p:cNvPr id="4" name="Content Placeholder 3">
            <a:extLst>
              <a:ext uri="{FF2B5EF4-FFF2-40B4-BE49-F238E27FC236}">
                <a16:creationId xmlns:a16="http://schemas.microsoft.com/office/drawing/2014/main" id="{723692FB-3E6C-7839-0B9B-8C6FAFDB41C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lnSpc>
                <a:spcPct val="110000"/>
              </a:lnSpc>
              <a:spcBef>
                <a:spcPts val="2500"/>
              </a:spcBef>
              <a:buFont typeface="Arial" panose="020B0604020202020204" pitchFamily="34" charset="0"/>
              <a:buNone/>
            </a:pPr>
            <a:r>
              <a:rPr lang="en-US" sz="1300" b="1"/>
              <a:t>Enhanced Bulk Upload</a:t>
            </a:r>
          </a:p>
          <a:p>
            <a:pPr marL="0" lvl="1" indent="0">
              <a:lnSpc>
                <a:spcPct val="110000"/>
              </a:lnSpc>
              <a:buFont typeface="Arial" panose="020B0604020202020204" pitchFamily="34" charset="0"/>
              <a:buNone/>
            </a:pPr>
            <a:r>
              <a:rPr lang="en-US" sz="1300"/>
              <a:t>Enhanced bulk upload eliminates errors and speeds up data ingestion with robust validation and error-free outputs.</a:t>
            </a:r>
          </a:p>
          <a:p>
            <a:pPr marL="0" indent="0">
              <a:lnSpc>
                <a:spcPct val="110000"/>
              </a:lnSpc>
              <a:spcBef>
                <a:spcPts val="2500"/>
              </a:spcBef>
              <a:buFont typeface="Arial" panose="020B0604020202020204" pitchFamily="34" charset="0"/>
              <a:buNone/>
            </a:pPr>
            <a:r>
              <a:rPr lang="en-US" sz="1300" b="1"/>
              <a:t>Improved Data Accuracy</a:t>
            </a:r>
          </a:p>
          <a:p>
            <a:pPr marL="0" lvl="1" indent="0">
              <a:lnSpc>
                <a:spcPct val="110000"/>
              </a:lnSpc>
              <a:buFont typeface="Arial" panose="020B0604020202020204" pitchFamily="34" charset="0"/>
              <a:buNone/>
            </a:pPr>
            <a:r>
              <a:rPr lang="en-US" sz="1300"/>
              <a:t>New validation mechanisms reduce turnaround time and ensure high accuracy in data processing and chart generation.</a:t>
            </a:r>
          </a:p>
          <a:p>
            <a:pPr marL="0" indent="0">
              <a:lnSpc>
                <a:spcPct val="110000"/>
              </a:lnSpc>
              <a:spcBef>
                <a:spcPts val="2500"/>
              </a:spcBef>
              <a:buFont typeface="Arial" panose="020B0604020202020204" pitchFamily="34" charset="0"/>
              <a:buNone/>
            </a:pPr>
            <a:r>
              <a:rPr lang="en-US" sz="1300" b="1"/>
              <a:t>User Management Upgrades</a:t>
            </a:r>
          </a:p>
          <a:p>
            <a:pPr marL="0" lvl="1" indent="0">
              <a:lnSpc>
                <a:spcPct val="110000"/>
              </a:lnSpc>
              <a:buFont typeface="Arial" panose="020B0604020202020204" pitchFamily="34" charset="0"/>
              <a:buNone/>
            </a:pPr>
            <a:r>
              <a:rPr lang="en-US" sz="1300"/>
              <a:t>User management improvements include advanced filters, server-side data tables, and bulk upload support for scalability.</a:t>
            </a:r>
          </a:p>
          <a:p>
            <a:pPr marL="0" indent="0">
              <a:lnSpc>
                <a:spcPct val="110000"/>
              </a:lnSpc>
              <a:spcBef>
                <a:spcPts val="2500"/>
              </a:spcBef>
              <a:buFont typeface="Arial" panose="020B0604020202020204" pitchFamily="34" charset="0"/>
              <a:buNone/>
            </a:pPr>
            <a:r>
              <a:rPr lang="en-US" sz="1300" b="1"/>
              <a:t>System Efficiency and Scalability</a:t>
            </a:r>
          </a:p>
          <a:p>
            <a:pPr marL="0" lvl="1" indent="0">
              <a:lnSpc>
                <a:spcPct val="110000"/>
              </a:lnSpc>
              <a:buFont typeface="Arial" panose="020B0604020202020204" pitchFamily="34" charset="0"/>
              <a:buNone/>
            </a:pPr>
            <a:r>
              <a:rPr lang="en-US" sz="1300"/>
              <a:t>Focus on usability and performance helps teams handle large datasets and users without sacrificing speed or accuracy.</a:t>
            </a:r>
          </a:p>
        </p:txBody>
      </p:sp>
      <p:pic>
        <p:nvPicPr>
          <p:cNvPr id="5" name="Content Placeholder 4" descr="Database symbols with arrows and file folder">
            <a:extLst>
              <a:ext uri="{FF2B5EF4-FFF2-40B4-BE49-F238E27FC236}">
                <a16:creationId xmlns:a16="http://schemas.microsoft.com/office/drawing/2014/main" id="{6ED8F6A3-66D0-47C3-BFE7-CF377CC52756}"/>
              </a:ext>
            </a:extLst>
          </p:cNvPr>
          <p:cNvPicPr>
            <a:picLocks noGrp="1" noChangeAspect="1"/>
          </p:cNvPicPr>
          <p:nvPr>
            <p:ph type="pic" sz="quarter" idx="18"/>
          </p:nvPr>
        </p:nvPicPr>
        <p:blipFill>
          <a:blip r:embed="rId3"/>
          <a:srcRect l="39874" r="28326"/>
          <a:stretch>
            <a:fillRect/>
          </a:stretch>
        </p:blipFill>
        <p:spPr>
          <a:xfrm>
            <a:off x="9521861" y="269622"/>
            <a:ext cx="2395728" cy="6309360"/>
          </a:xfrm>
          <a:noFill/>
        </p:spPr>
      </p:pic>
    </p:spTree>
    <p:extLst>
      <p:ext uri="{BB962C8B-B14F-4D97-AF65-F5344CB8AC3E}">
        <p14:creationId xmlns:p14="http://schemas.microsoft.com/office/powerpoint/2010/main" val="488471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4AD6-FCC8-8C12-F3B4-59CBAED9E1A1}"/>
              </a:ext>
            </a:extLst>
          </p:cNvPr>
          <p:cNvSpPr>
            <a:spLocks noGrp="1"/>
          </p:cNvSpPr>
          <p:nvPr>
            <p:ph type="title"/>
          </p:nvPr>
        </p:nvSpPr>
        <p:spPr>
          <a:xfrm>
            <a:off x="609600" y="709099"/>
            <a:ext cx="8019289" cy="891101"/>
          </a:xfrm>
        </p:spPr>
        <p:txBody>
          <a:bodyPr anchor="b">
            <a:normAutofit/>
          </a:bodyPr>
          <a:lstStyle/>
          <a:p>
            <a:r>
              <a:rPr lang="en-US" b="1"/>
              <a:t>Team Leadership and Collaboration</a:t>
            </a:r>
          </a:p>
        </p:txBody>
      </p:sp>
      <p:sp>
        <p:nvSpPr>
          <p:cNvPr id="4" name="Content Placeholder 3">
            <a:extLst>
              <a:ext uri="{FF2B5EF4-FFF2-40B4-BE49-F238E27FC236}">
                <a16:creationId xmlns:a16="http://schemas.microsoft.com/office/drawing/2014/main" id="{C80B666C-A41E-863F-3C43-89CCF1F08F0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b="1"/>
              <a:t>Task Management and Monitoring</a:t>
            </a:r>
          </a:p>
          <a:p>
            <a:pPr marL="0" lvl="1" indent="0">
              <a:buFont typeface="Arial" panose="020B0604020202020204" pitchFamily="34" charset="0"/>
              <a:buNone/>
            </a:pPr>
            <a:r>
              <a:rPr lang="en-US"/>
              <a:t>Assigning tasks and monitoring progress ensured organized workflow and timely project delivery.</a:t>
            </a:r>
          </a:p>
          <a:p>
            <a:pPr marL="0" indent="0">
              <a:spcBef>
                <a:spcPts val="2500"/>
              </a:spcBef>
              <a:buFont typeface="Arial" panose="020B0604020202020204" pitchFamily="34" charset="0"/>
              <a:buNone/>
            </a:pPr>
            <a:r>
              <a:rPr lang="en-US" b="1"/>
              <a:t>Collaborative Environment</a:t>
            </a:r>
          </a:p>
          <a:p>
            <a:pPr marL="0" lvl="1" indent="0">
              <a:buFont typeface="Arial" panose="020B0604020202020204" pitchFamily="34" charset="0"/>
              <a:buNone/>
            </a:pPr>
            <a:r>
              <a:rPr lang="en-US"/>
              <a:t>Fostering collaboration boosted productivity and upheld quality standards throughout the project.</a:t>
            </a:r>
          </a:p>
          <a:p>
            <a:pPr marL="0" indent="0">
              <a:spcBef>
                <a:spcPts val="2500"/>
              </a:spcBef>
              <a:buFont typeface="Arial" panose="020B0604020202020204" pitchFamily="34" charset="0"/>
              <a:buNone/>
            </a:pPr>
            <a:r>
              <a:rPr lang="en-US" b="1"/>
              <a:t>Feedback and Support</a:t>
            </a:r>
          </a:p>
          <a:p>
            <a:pPr marL="0" lvl="1" indent="0">
              <a:buFont typeface="Arial" panose="020B0604020202020204" pitchFamily="34" charset="0"/>
              <a:buNone/>
            </a:pPr>
            <a:r>
              <a:rPr lang="en-US"/>
              <a:t>Regular feedback sessions and proactive support minimized delays and improved team morale.</a:t>
            </a:r>
          </a:p>
          <a:p>
            <a:pPr marL="0" indent="0">
              <a:spcBef>
                <a:spcPts val="2500"/>
              </a:spcBef>
              <a:buFont typeface="Arial" panose="020B0604020202020204" pitchFamily="34" charset="0"/>
              <a:buNone/>
            </a:pPr>
            <a:r>
              <a:rPr lang="en-US" b="1"/>
              <a:t>Mentoring and Knowledge Sharing</a:t>
            </a:r>
          </a:p>
          <a:p>
            <a:pPr marL="0" lvl="1" indent="0">
              <a:buFont typeface="Arial" panose="020B0604020202020204" pitchFamily="34" charset="0"/>
              <a:buNone/>
            </a:pPr>
            <a:r>
              <a:rPr lang="en-US"/>
              <a:t>Mentoring junior developers and promoting best practices strengthened team cohesion and expertise.</a:t>
            </a:r>
            <a:endParaRPr lang="en-US" dirty="0"/>
          </a:p>
        </p:txBody>
      </p:sp>
      <p:pic>
        <p:nvPicPr>
          <p:cNvPr id="5" name="Content Placeholder 4">
            <a:extLst>
              <a:ext uri="{FF2B5EF4-FFF2-40B4-BE49-F238E27FC236}">
                <a16:creationId xmlns:a16="http://schemas.microsoft.com/office/drawing/2014/main" id="{240D67D1-BF67-411D-B6DC-B003591B02F5}"/>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36473" r="36473"/>
          <a:stretch/>
        </p:blipFill>
        <p:spPr>
          <a:xfrm>
            <a:off x="9521861" y="269622"/>
            <a:ext cx="2395728" cy="6309360"/>
          </a:xfrm>
          <a:noFill/>
        </p:spPr>
      </p:pic>
    </p:spTree>
    <p:extLst>
      <p:ext uri="{BB962C8B-B14F-4D97-AF65-F5344CB8AC3E}">
        <p14:creationId xmlns:p14="http://schemas.microsoft.com/office/powerpoint/2010/main" val="8814335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31203-BCAE-AABC-1019-F5D22BE51C7A}"/>
              </a:ext>
            </a:extLst>
          </p:cNvPr>
          <p:cNvSpPr>
            <a:spLocks noGrp="1"/>
          </p:cNvSpPr>
          <p:nvPr>
            <p:ph type="ctrTitle"/>
          </p:nvPr>
        </p:nvSpPr>
        <p:spPr>
          <a:xfrm>
            <a:off x="612648" y="1417671"/>
            <a:ext cx="7909560" cy="4754529"/>
          </a:xfrm>
        </p:spPr>
        <p:txBody>
          <a:bodyPr anchor="b">
            <a:normAutofit/>
          </a:bodyPr>
          <a:lstStyle/>
          <a:p>
            <a:r>
              <a:rPr lang="en-US" sz="2800" b="0">
                <a:latin typeface="Calibri"/>
              </a:rPr>
              <a:t>Personal Development and Future Goals</a:t>
            </a:r>
          </a:p>
        </p:txBody>
      </p:sp>
    </p:spTree>
    <p:extLst>
      <p:ext uri="{BB962C8B-B14F-4D97-AF65-F5344CB8AC3E}">
        <p14:creationId xmlns:p14="http://schemas.microsoft.com/office/powerpoint/2010/main" val="36183756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ECFCC-3199-B2C4-4242-DF4153A2A003}"/>
              </a:ext>
            </a:extLst>
          </p:cNvPr>
          <p:cNvSpPr>
            <a:spLocks noGrp="1"/>
          </p:cNvSpPr>
          <p:nvPr>
            <p:ph type="title"/>
          </p:nvPr>
        </p:nvSpPr>
        <p:spPr>
          <a:xfrm>
            <a:off x="609600" y="709099"/>
            <a:ext cx="8019289" cy="891101"/>
          </a:xfrm>
        </p:spPr>
        <p:txBody>
          <a:bodyPr anchor="b">
            <a:normAutofit/>
          </a:bodyPr>
          <a:lstStyle/>
          <a:p>
            <a:r>
              <a:rPr lang="en-US" b="1"/>
              <a:t>Strengths and Core Competencies</a:t>
            </a:r>
          </a:p>
        </p:txBody>
      </p:sp>
      <p:sp>
        <p:nvSpPr>
          <p:cNvPr id="4" name="Content Placeholder 3">
            <a:extLst>
              <a:ext uri="{FF2B5EF4-FFF2-40B4-BE49-F238E27FC236}">
                <a16:creationId xmlns:a16="http://schemas.microsoft.com/office/drawing/2014/main" id="{D1994FC9-A30E-F94D-9816-E1279926855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lnSpc>
                <a:spcPct val="110000"/>
              </a:lnSpc>
              <a:spcBef>
                <a:spcPts val="2500"/>
              </a:spcBef>
              <a:buFont typeface="Arial" panose="020B0604020202020204" pitchFamily="34" charset="0"/>
              <a:buNone/>
            </a:pPr>
            <a:r>
              <a:rPr lang="en-US" b="1"/>
              <a:t>Multi-perspective Analysis</a:t>
            </a:r>
          </a:p>
          <a:p>
            <a:pPr marL="0" lvl="1" indent="0">
              <a:lnSpc>
                <a:spcPct val="110000"/>
              </a:lnSpc>
              <a:buFont typeface="Arial" panose="020B0604020202020204" pitchFamily="34" charset="0"/>
              <a:buNone/>
            </a:pPr>
            <a:r>
              <a:rPr lang="en-US"/>
              <a:t>Tasks are analyzed proactively from positive, negative, and user-friendly viewpoints before implementation.</a:t>
            </a:r>
          </a:p>
          <a:p>
            <a:pPr marL="0" indent="0">
              <a:lnSpc>
                <a:spcPct val="110000"/>
              </a:lnSpc>
              <a:spcBef>
                <a:spcPts val="2500"/>
              </a:spcBef>
              <a:buFont typeface="Arial" panose="020B0604020202020204" pitchFamily="34" charset="0"/>
              <a:buNone/>
            </a:pPr>
            <a:r>
              <a:rPr lang="en-US" b="1"/>
              <a:t>Innovation and Added Value</a:t>
            </a:r>
          </a:p>
          <a:p>
            <a:pPr marL="0" lvl="1" indent="0">
              <a:lnSpc>
                <a:spcPct val="110000"/>
              </a:lnSpc>
              <a:buFont typeface="Arial" panose="020B0604020202020204" pitchFamily="34" charset="0"/>
              <a:buNone/>
            </a:pPr>
            <a:r>
              <a:rPr lang="en-US"/>
              <a:t>Enhancing core functionalities beyond client needs demonstrates innovation and customer-centric mindset.</a:t>
            </a:r>
          </a:p>
          <a:p>
            <a:pPr marL="0" indent="0">
              <a:lnSpc>
                <a:spcPct val="110000"/>
              </a:lnSpc>
              <a:spcBef>
                <a:spcPts val="2500"/>
              </a:spcBef>
              <a:buFont typeface="Arial" panose="020B0604020202020204" pitchFamily="34" charset="0"/>
              <a:buNone/>
            </a:pPr>
            <a:r>
              <a:rPr lang="en-US" b="1"/>
              <a:t>Optimized Development</a:t>
            </a:r>
          </a:p>
          <a:p>
            <a:pPr marL="0" lvl="1" indent="0">
              <a:lnSpc>
                <a:spcPct val="110000"/>
              </a:lnSpc>
              <a:buFont typeface="Arial" panose="020B0604020202020204" pitchFamily="34" charset="0"/>
              <a:buNone/>
            </a:pPr>
            <a:r>
              <a:rPr lang="en-US"/>
              <a:t>Expertise in developing optimized code and database structures ensures high performance and scalability.</a:t>
            </a:r>
          </a:p>
          <a:p>
            <a:pPr marL="0" indent="0">
              <a:lnSpc>
                <a:spcPct val="110000"/>
              </a:lnSpc>
              <a:spcBef>
                <a:spcPts val="2500"/>
              </a:spcBef>
              <a:buFont typeface="Arial" panose="020B0604020202020204" pitchFamily="34" charset="0"/>
              <a:buNone/>
            </a:pPr>
            <a:r>
              <a:rPr lang="en-US" b="1"/>
              <a:t>Analytical Problem-solving</a:t>
            </a:r>
          </a:p>
          <a:p>
            <a:pPr marL="0" lvl="1" indent="0">
              <a:lnSpc>
                <a:spcPct val="110000"/>
              </a:lnSpc>
              <a:buFont typeface="Arial" panose="020B0604020202020204" pitchFamily="34" charset="0"/>
              <a:buNone/>
            </a:pPr>
            <a:r>
              <a:rPr lang="en-US"/>
              <a:t>Strong analytical skills help identify root causes and apply effective problem-solving techniques.</a:t>
            </a:r>
          </a:p>
        </p:txBody>
      </p:sp>
      <p:pic>
        <p:nvPicPr>
          <p:cNvPr id="5" name="Content Placeholder 4" descr="Office interior">
            <a:extLst>
              <a:ext uri="{FF2B5EF4-FFF2-40B4-BE49-F238E27FC236}">
                <a16:creationId xmlns:a16="http://schemas.microsoft.com/office/drawing/2014/main" id="{BCFBD223-1C1E-459C-BB2C-2B00A3C60DE7}"/>
              </a:ext>
            </a:extLst>
          </p:cNvPr>
          <p:cNvPicPr>
            <a:picLocks noGrp="1" noChangeAspect="1"/>
          </p:cNvPicPr>
          <p:nvPr>
            <p:ph type="pic" sz="quarter" idx="18"/>
          </p:nvPr>
        </p:nvPicPr>
        <p:blipFill>
          <a:blip r:embed="rId3"/>
          <a:srcRect l="39018" r="29655" b="-1"/>
          <a:stretch>
            <a:fillRect/>
          </a:stretch>
        </p:blipFill>
        <p:spPr>
          <a:xfrm>
            <a:off x="9521861" y="269622"/>
            <a:ext cx="2395728" cy="6309360"/>
          </a:xfrm>
          <a:noFill/>
        </p:spPr>
      </p:pic>
    </p:spTree>
    <p:extLst>
      <p:ext uri="{BB962C8B-B14F-4D97-AF65-F5344CB8AC3E}">
        <p14:creationId xmlns:p14="http://schemas.microsoft.com/office/powerpoint/2010/main" val="27082487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E0847-5090-6530-12DD-075BA2A62026}"/>
              </a:ext>
            </a:extLst>
          </p:cNvPr>
          <p:cNvSpPr>
            <a:spLocks noGrp="1"/>
          </p:cNvSpPr>
          <p:nvPr>
            <p:ph type="title"/>
          </p:nvPr>
        </p:nvSpPr>
        <p:spPr>
          <a:xfrm>
            <a:off x="609600" y="709099"/>
            <a:ext cx="8019289" cy="891101"/>
          </a:xfrm>
        </p:spPr>
        <p:txBody>
          <a:bodyPr anchor="b">
            <a:normAutofit/>
          </a:bodyPr>
          <a:lstStyle/>
          <a:p>
            <a:r>
              <a:rPr lang="en-US" b="1"/>
              <a:t>Areas of Improvement and Learning Plan</a:t>
            </a:r>
          </a:p>
        </p:txBody>
      </p:sp>
      <p:sp>
        <p:nvSpPr>
          <p:cNvPr id="4" name="Content Placeholder 3">
            <a:extLst>
              <a:ext uri="{FF2B5EF4-FFF2-40B4-BE49-F238E27FC236}">
                <a16:creationId xmlns:a16="http://schemas.microsoft.com/office/drawing/2014/main" id="{4ADAEF03-AFC3-3A67-6969-C98231580C8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b="1"/>
              <a:t>Communication and Stakeholder Skills</a:t>
            </a:r>
          </a:p>
          <a:p>
            <a:pPr marL="0" lvl="1" indent="0">
              <a:buFont typeface="Arial" panose="020B0604020202020204" pitchFamily="34" charset="0"/>
              <a:buNone/>
            </a:pPr>
            <a:r>
              <a:rPr lang="en-US"/>
              <a:t>Improving communication and stakeholder management is essential for effective collaboration and project success.</a:t>
            </a:r>
          </a:p>
          <a:p>
            <a:pPr marL="0" indent="0">
              <a:spcBef>
                <a:spcPts val="2500"/>
              </a:spcBef>
              <a:buFont typeface="Arial" panose="020B0604020202020204" pitchFamily="34" charset="0"/>
              <a:buNone/>
            </a:pPr>
            <a:r>
              <a:rPr lang="en-US" b="1"/>
              <a:t>Technical Skill Development</a:t>
            </a:r>
          </a:p>
          <a:p>
            <a:pPr marL="0" lvl="1" indent="0">
              <a:buFont typeface="Arial" panose="020B0604020202020204" pitchFamily="34" charset="0"/>
              <a:buNone/>
            </a:pPr>
            <a:r>
              <a:rPr lang="en-US"/>
              <a:t>Mastering Node.js, TypeScript, React, AI, and PostgreSQL aligns with current industry technology trends.</a:t>
            </a:r>
          </a:p>
          <a:p>
            <a:pPr marL="0" indent="0">
              <a:spcBef>
                <a:spcPts val="2500"/>
              </a:spcBef>
              <a:buFont typeface="Arial" panose="020B0604020202020204" pitchFamily="34" charset="0"/>
              <a:buNone/>
            </a:pPr>
            <a:r>
              <a:rPr lang="en-US" b="1"/>
              <a:t>Advanced Monitoring and Quality Tools</a:t>
            </a:r>
          </a:p>
          <a:p>
            <a:pPr marL="0" lvl="1" indent="0">
              <a:buFont typeface="Arial" panose="020B0604020202020204" pitchFamily="34" charset="0"/>
              <a:buNone/>
            </a:pPr>
            <a:r>
              <a:rPr lang="en-US"/>
              <a:t>Utilizing Grafana and SonarQube enhances system monitoring, reliability, and code quality.</a:t>
            </a:r>
          </a:p>
          <a:p>
            <a:pPr marL="0" indent="0">
              <a:spcBef>
                <a:spcPts val="2500"/>
              </a:spcBef>
              <a:buFont typeface="Arial" panose="020B0604020202020204" pitchFamily="34" charset="0"/>
              <a:buNone/>
            </a:pPr>
            <a:r>
              <a:rPr lang="en-US" b="1"/>
              <a:t>AI Integration for Automation</a:t>
            </a:r>
          </a:p>
          <a:p>
            <a:pPr marL="0" lvl="1" indent="0">
              <a:buFont typeface="Arial" panose="020B0604020202020204" pitchFamily="34" charset="0"/>
              <a:buNone/>
            </a:pPr>
            <a:r>
              <a:rPr lang="en-US"/>
              <a:t>Incorporating AI-driven features supports automation and predictive analytics in workflows.</a:t>
            </a:r>
          </a:p>
        </p:txBody>
      </p:sp>
      <p:pic>
        <p:nvPicPr>
          <p:cNvPr id="5" name="Content Placeholder 4" descr="Plexiglass panels between desks in an empty office">
            <a:extLst>
              <a:ext uri="{FF2B5EF4-FFF2-40B4-BE49-F238E27FC236}">
                <a16:creationId xmlns:a16="http://schemas.microsoft.com/office/drawing/2014/main" id="{58E43B43-E055-4FD9-B916-546ACD883960}"/>
              </a:ext>
            </a:extLst>
          </p:cNvPr>
          <p:cNvPicPr>
            <a:picLocks noGrp="1" noChangeAspect="1"/>
          </p:cNvPicPr>
          <p:nvPr>
            <p:ph type="pic" sz="quarter" idx="18"/>
          </p:nvPr>
        </p:nvPicPr>
        <p:blipFill>
          <a:blip r:embed="rId3"/>
          <a:srcRect l="35702" r="38953" b="2"/>
          <a:stretch>
            <a:fillRect/>
          </a:stretch>
        </p:blipFill>
        <p:spPr>
          <a:xfrm>
            <a:off x="9521861" y="269622"/>
            <a:ext cx="2395728" cy="6309360"/>
          </a:xfrm>
          <a:noFill/>
        </p:spPr>
      </p:pic>
    </p:spTree>
    <p:extLst>
      <p:ext uri="{BB962C8B-B14F-4D97-AF65-F5344CB8AC3E}">
        <p14:creationId xmlns:p14="http://schemas.microsoft.com/office/powerpoint/2010/main" val="2968362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E9AB5-FE19-BB63-EDFA-67638D0E740F}"/>
              </a:ext>
            </a:extLst>
          </p:cNvPr>
          <p:cNvSpPr>
            <a:spLocks noGrp="1"/>
          </p:cNvSpPr>
          <p:nvPr>
            <p:ph type="title"/>
          </p:nvPr>
        </p:nvSpPr>
        <p:spPr>
          <a:xfrm>
            <a:off x="609600" y="709099"/>
            <a:ext cx="8019289" cy="891101"/>
          </a:xfrm>
        </p:spPr>
        <p:txBody>
          <a:bodyPr anchor="b">
            <a:normAutofit/>
          </a:bodyPr>
          <a:lstStyle/>
          <a:p>
            <a:r>
              <a:rPr lang="en-US" b="1"/>
              <a:t>Next Year Goals and Strategic Vision</a:t>
            </a:r>
          </a:p>
        </p:txBody>
      </p:sp>
      <p:sp>
        <p:nvSpPr>
          <p:cNvPr id="4" name="Content Placeholder 3">
            <a:extLst>
              <a:ext uri="{FF2B5EF4-FFF2-40B4-BE49-F238E27FC236}">
                <a16:creationId xmlns:a16="http://schemas.microsoft.com/office/drawing/2014/main" id="{86B7B372-2D89-3279-6FFA-93A03D82941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lnSpc>
                <a:spcPct val="110000"/>
              </a:lnSpc>
              <a:spcBef>
                <a:spcPts val="2500"/>
              </a:spcBef>
              <a:buFont typeface="Arial" panose="020B0604020202020204" pitchFamily="34" charset="0"/>
              <a:buNone/>
            </a:pPr>
            <a:r>
              <a:rPr lang="en-US" sz="1300" b="1"/>
              <a:t>Advanced Technology Development</a:t>
            </a:r>
          </a:p>
          <a:p>
            <a:pPr marL="0" lvl="1" indent="0">
              <a:lnSpc>
                <a:spcPct val="110000"/>
              </a:lnSpc>
              <a:buFont typeface="Arial" panose="020B0604020202020204" pitchFamily="34" charset="0"/>
              <a:buNone/>
            </a:pPr>
            <a:r>
              <a:rPr lang="en-US" sz="1300"/>
              <a:t>Driving CorroPro development by leveraging cutting-edge technologies to enhance product capabilities and innovation.</a:t>
            </a:r>
          </a:p>
          <a:p>
            <a:pPr marL="0" indent="0">
              <a:lnSpc>
                <a:spcPct val="110000"/>
              </a:lnSpc>
              <a:spcBef>
                <a:spcPts val="2500"/>
              </a:spcBef>
              <a:buFont typeface="Arial" panose="020B0604020202020204" pitchFamily="34" charset="0"/>
              <a:buNone/>
            </a:pPr>
            <a:r>
              <a:rPr lang="en-US" sz="1300" b="1"/>
              <a:t>Monitoring Solutions Implementation</a:t>
            </a:r>
          </a:p>
          <a:p>
            <a:pPr marL="0" lvl="1" indent="0">
              <a:lnSpc>
                <a:spcPct val="110000"/>
              </a:lnSpc>
              <a:buFont typeface="Arial" panose="020B0604020202020204" pitchFamily="34" charset="0"/>
              <a:buNone/>
            </a:pPr>
            <a:r>
              <a:rPr lang="en-US" sz="1300"/>
              <a:t>Implementing advanced monitoring tools like Grafana and SonarQube to ensure system performance and reliability.</a:t>
            </a:r>
          </a:p>
          <a:p>
            <a:pPr marL="0" indent="0">
              <a:lnSpc>
                <a:spcPct val="110000"/>
              </a:lnSpc>
              <a:spcBef>
                <a:spcPts val="2500"/>
              </a:spcBef>
              <a:buFont typeface="Arial" panose="020B0604020202020204" pitchFamily="34" charset="0"/>
              <a:buNone/>
            </a:pPr>
            <a:r>
              <a:rPr lang="en-US" sz="1300" b="1"/>
              <a:t>AI for Automation</a:t>
            </a:r>
          </a:p>
          <a:p>
            <a:pPr marL="0" lvl="1" indent="0">
              <a:lnSpc>
                <a:spcPct val="110000"/>
              </a:lnSpc>
              <a:buFont typeface="Arial" panose="020B0604020202020204" pitchFamily="34" charset="0"/>
              <a:buNone/>
            </a:pPr>
            <a:r>
              <a:rPr lang="en-US" sz="1300"/>
              <a:t>Exploring AI capabilities to enable automation and intelligent decision-making within organizational processes.</a:t>
            </a:r>
          </a:p>
          <a:p>
            <a:pPr marL="0" indent="0">
              <a:lnSpc>
                <a:spcPct val="110000"/>
              </a:lnSpc>
              <a:spcBef>
                <a:spcPts val="2500"/>
              </a:spcBef>
              <a:buFont typeface="Arial" panose="020B0604020202020204" pitchFamily="34" charset="0"/>
              <a:buNone/>
            </a:pPr>
            <a:r>
              <a:rPr lang="en-US" sz="1300" b="1"/>
              <a:t>Infrastructure and Scalability</a:t>
            </a:r>
          </a:p>
          <a:p>
            <a:pPr marL="0" lvl="1" indent="0">
              <a:lnSpc>
                <a:spcPct val="110000"/>
              </a:lnSpc>
              <a:buFont typeface="Arial" panose="020B0604020202020204" pitchFamily="34" charset="0"/>
              <a:buNone/>
            </a:pPr>
            <a:r>
              <a:rPr lang="en-US" sz="1300"/>
              <a:t>Maintaining server infrastructure, optimizing performance, and adopting emerging frameworks to improve scalability.</a:t>
            </a:r>
          </a:p>
        </p:txBody>
      </p:sp>
      <p:pic>
        <p:nvPicPr>
          <p:cNvPr id="5" name="Content Placeholder 4"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EE8C2E5F-1D4E-4582-B459-3F14A731FE37}"/>
              </a:ext>
            </a:extLst>
          </p:cNvPr>
          <p:cNvPicPr>
            <a:picLocks noGrp="1" noChangeAspect="1"/>
          </p:cNvPicPr>
          <p:nvPr>
            <p:ph type="pic" sz="quarter" idx="18"/>
          </p:nvPr>
        </p:nvPicPr>
        <p:blipFill>
          <a:blip r:embed="rId3"/>
          <a:srcRect l="35761" r="35761"/>
          <a:stretch/>
        </p:blipFill>
        <p:spPr>
          <a:xfrm>
            <a:off x="9521873" y="269622"/>
            <a:ext cx="2395704" cy="6309360"/>
          </a:xfrm>
          <a:noFill/>
        </p:spPr>
      </p:pic>
    </p:spTree>
    <p:extLst>
      <p:ext uri="{BB962C8B-B14F-4D97-AF65-F5344CB8AC3E}">
        <p14:creationId xmlns:p14="http://schemas.microsoft.com/office/powerpoint/2010/main" val="33692087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1107-9A0F-E82D-338D-420849687EAF}"/>
              </a:ext>
            </a:extLst>
          </p:cNvPr>
          <p:cNvSpPr>
            <a:spLocks noGrp="1"/>
          </p:cNvSpPr>
          <p:nvPr>
            <p:ph type="title"/>
          </p:nvPr>
        </p:nvSpPr>
        <p:spPr>
          <a:xfrm>
            <a:off x="2840840" y="-131722"/>
            <a:ext cx="4192166" cy="1527048"/>
          </a:xfrm>
        </p:spPr>
        <p:txBody>
          <a:bodyPr anchor="b">
            <a:normAutofit/>
          </a:bodyPr>
          <a:lstStyle/>
          <a:p>
            <a:r>
              <a:rPr lang="en-US" dirty="0"/>
              <a:t>Thank You</a:t>
            </a:r>
          </a:p>
        </p:txBody>
      </p:sp>
      <p:pic>
        <p:nvPicPr>
          <p:cNvPr id="5" name="Content Placeholder 4" descr="Two people, handshake in office, cropped photo.">
            <a:extLst>
              <a:ext uri="{FF2B5EF4-FFF2-40B4-BE49-F238E27FC236}">
                <a16:creationId xmlns:a16="http://schemas.microsoft.com/office/drawing/2014/main" id="{65310FF0-53CE-4C64-BA47-8F8C1725DA8F}"/>
              </a:ext>
            </a:extLst>
          </p:cNvPr>
          <p:cNvPicPr>
            <a:picLocks noGrp="1" noChangeAspect="1"/>
          </p:cNvPicPr>
          <p:nvPr>
            <p:ph type="pic" sz="quarter" idx="18"/>
          </p:nvPr>
        </p:nvPicPr>
        <p:blipFill>
          <a:blip r:embed="rId3"/>
          <a:srcRect l="15916" r="15916"/>
          <a:stretch>
            <a:fillRect/>
          </a:stretch>
        </p:blipFill>
        <p:spPr/>
      </p:pic>
      <p:sp>
        <p:nvSpPr>
          <p:cNvPr id="4" name="Content Placeholder 3">
            <a:extLst>
              <a:ext uri="{FF2B5EF4-FFF2-40B4-BE49-F238E27FC236}">
                <a16:creationId xmlns:a16="http://schemas.microsoft.com/office/drawing/2014/main" id="{8C8473FC-153B-5469-AB05-C8315A30936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64592" y="1746729"/>
            <a:ext cx="8915400" cy="4629199"/>
          </a:xfrm>
        </p:spPr>
        <p:txBody>
          <a:bodyPr vert="horz" lIns="91440" tIns="45720" rIns="91440" bIns="45720" rtlCol="0" anchor="t">
            <a:normAutofit/>
          </a:bodyPr>
          <a:lstStyle/>
          <a:p>
            <a:pPr>
              <a:buNone/>
            </a:pPr>
            <a:r>
              <a:rPr lang="en-US" sz="1800" dirty="0">
                <a:ea typeface="+mn-lt"/>
                <a:cs typeface="+mn-lt"/>
              </a:rPr>
              <a:t>For Your Consideration &amp; Support</a:t>
            </a:r>
            <a:endParaRPr lang="en-US" sz="1800" dirty="0"/>
          </a:p>
          <a:p>
            <a:pPr marL="0" indent="0">
              <a:lnSpc>
                <a:spcPct val="90000"/>
              </a:lnSpc>
              <a:spcBef>
                <a:spcPts val="2500"/>
              </a:spcBef>
              <a:buNone/>
            </a:pPr>
            <a:endParaRPr lang="en-US" sz="1800" dirty="0"/>
          </a:p>
          <a:p>
            <a:pPr marL="0" indent="0">
              <a:lnSpc>
                <a:spcPct val="90000"/>
              </a:lnSpc>
              <a:spcBef>
                <a:spcPts val="2500"/>
              </a:spcBef>
              <a:buNone/>
            </a:pPr>
            <a:r>
              <a:rPr lang="en-US" sz="1800" dirty="0">
                <a:ea typeface="+mn-lt"/>
                <a:cs typeface="+mn-lt"/>
              </a:rPr>
              <a:t>I sincerely appreciate the opportunity to present my achievements and contributions. I look forward to continuing to contribute more significantly to the organization's quality assurance success and achieving the goals outlined in this review.</a:t>
            </a:r>
            <a:endParaRPr lang="en-US" sz="1800" dirty="0"/>
          </a:p>
        </p:txBody>
      </p:sp>
      <p:pic>
        <p:nvPicPr>
          <p:cNvPr id="6" name="Picture 5" descr="A colorful circle with a black background&#10;&#10;AI-generated content may be incorrect.">
            <a:extLst>
              <a:ext uri="{FF2B5EF4-FFF2-40B4-BE49-F238E27FC236}">
                <a16:creationId xmlns:a16="http://schemas.microsoft.com/office/drawing/2014/main" id="{F4ED433F-2D4F-71D0-DB78-955D51133EA7}"/>
              </a:ext>
            </a:extLst>
          </p:cNvPr>
          <p:cNvPicPr>
            <a:picLocks noChangeAspect="1"/>
          </p:cNvPicPr>
          <p:nvPr/>
        </p:nvPicPr>
        <p:blipFill>
          <a:blip r:embed="rId4"/>
          <a:stretch>
            <a:fillRect/>
          </a:stretch>
        </p:blipFill>
        <p:spPr>
          <a:xfrm>
            <a:off x="500592" y="482071"/>
            <a:ext cx="988484" cy="559859"/>
          </a:xfrm>
          <a:prstGeom prst="rect">
            <a:avLst/>
          </a:prstGeom>
        </p:spPr>
      </p:pic>
    </p:spTree>
    <p:extLst>
      <p:ext uri="{BB962C8B-B14F-4D97-AF65-F5344CB8AC3E}">
        <p14:creationId xmlns:p14="http://schemas.microsoft.com/office/powerpoint/2010/main" val="15659149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99ED26-B189-4BA1-99D0-1112D8C2F106}">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8E339AF-67FC-4BA3-8B2E-038B3ED310D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TM02892315[[fn=Wisp]]</Template>
  <TotalTime>152</TotalTime>
  <Words>1795</Words>
  <Application>Microsoft Office PowerPoint</Application>
  <PresentationFormat>Widescreen</PresentationFormat>
  <Paragraphs>104</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Batang</vt:lpstr>
      <vt:lpstr>Aptos</vt:lpstr>
      <vt:lpstr>Arial</vt:lpstr>
      <vt:lpstr>Avenir Next LT Pro Light</vt:lpstr>
      <vt:lpstr>Calibri</vt:lpstr>
      <vt:lpstr>Solace</vt:lpstr>
      <vt:lpstr>Performance &amp; Project Delivery Presentation – Karvendhan Nagaraj  </vt:lpstr>
      <vt:lpstr>Appraisal Highlights</vt:lpstr>
      <vt:lpstr>HIM – Report Optimization</vt:lpstr>
      <vt:lpstr>CORRO QA – Key Achievements</vt:lpstr>
      <vt:lpstr>New Dashboards and Reporting Enhancements</vt:lpstr>
      <vt:lpstr>Bulk Upload and User Management Improvements</vt:lpstr>
      <vt:lpstr>Team Leadership and Collaboration</vt:lpstr>
      <vt:lpstr>Personal Development and Future Goals</vt:lpstr>
      <vt:lpstr>Strengths and Core Competencies</vt:lpstr>
      <vt:lpstr>Areas of Improvement and Learning Plan</vt:lpstr>
      <vt:lpstr>Next Year Goals and Strategic Vision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Karvendhan Nagaraj</cp:lastModifiedBy>
  <cp:revision>13</cp:revision>
  <dcterms:created xsi:type="dcterms:W3CDTF">2025-05-21T23:03:00Z</dcterms:created>
  <dcterms:modified xsi:type="dcterms:W3CDTF">2026-01-23T13:44:49Z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